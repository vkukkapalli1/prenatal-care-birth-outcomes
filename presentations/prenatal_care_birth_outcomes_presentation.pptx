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Sai krishna Kukkapalli" userId="7aeeb4d7-521c-489f-a4c0-ba6a8c2ddebb" providerId="ADAL" clId="{4634FFB7-EE73-4384-8382-DA08751E1570}"/>
    <pc:docChg chg="modSld">
      <pc:chgData name="Venkata Sai krishna Kukkapalli" userId="7aeeb4d7-521c-489f-a4c0-ba6a8c2ddebb" providerId="ADAL" clId="{4634FFB7-EE73-4384-8382-DA08751E1570}" dt="2026-06-12T22:00:25.571" v="1" actId="20577"/>
      <pc:docMkLst>
        <pc:docMk/>
      </pc:docMkLst>
      <pc:sldChg chg="modSp mod">
        <pc:chgData name="Venkata Sai krishna Kukkapalli" userId="7aeeb4d7-521c-489f-a4c0-ba6a8c2ddebb" providerId="ADAL" clId="{4634FFB7-EE73-4384-8382-DA08751E1570}" dt="2026-06-12T22:00:25.571" v="1" actId="20577"/>
        <pc:sldMkLst>
          <pc:docMk/>
          <pc:sldMk cId="0" sldId="284"/>
        </pc:sldMkLst>
        <pc:spChg chg="mod">
          <ac:chgData name="Venkata Sai krishna Kukkapalli" userId="7aeeb4d7-521c-489f-a4c0-ba6a8c2ddebb" providerId="ADAL" clId="{4634FFB7-EE73-4384-8382-DA08751E1570}" dt="2026-06-12T22:00:25.571" v="1" actId="20577"/>
          <ac:spMkLst>
            <pc:docMk/>
            <pc:sldMk cId="0" sldId="28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78940"/>
            <a:ext cx="807211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776176"/>
            <a:ext cx="8009255" cy="3820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2836820/" TargetMode="External"/><Relationship Id="rId2" Type="http://schemas.openxmlformats.org/officeDocument/2006/relationships/hyperlink" Target="https://pubmed.ncbi.nlm.nih.gov/15965620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dc.gov/nchs/data_access/vitalstatsonline.htm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638" y="312620"/>
            <a:ext cx="5980160" cy="14457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81422" y="2002740"/>
            <a:ext cx="4076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100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Research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PRESENTATION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34" y="2978100"/>
            <a:ext cx="7763509" cy="256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“</a:t>
            </a:r>
            <a:r>
              <a:rPr lang="en-US" sz="2000" b="1" dirty="0">
                <a:latin typeface="Times New Roman"/>
                <a:cs typeface="Times New Roman"/>
              </a:rPr>
              <a:t>Prenatal Care Timing and Maternal Sociodemographic Factors Associated with U.S. Birth Outcomes</a:t>
            </a:r>
            <a:r>
              <a:rPr sz="2000" b="1" spc="-10" dirty="0">
                <a:latin typeface="Times New Roman"/>
                <a:cs typeface="Times New Roman"/>
              </a:rPr>
              <a:t>”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HDS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5310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Analytics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Statistical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Programming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04-29-</a:t>
            </a:r>
            <a:r>
              <a:rPr sz="2000" b="1" spc="-20" dirty="0">
                <a:latin typeface="Times New Roman"/>
                <a:cs typeface="Times New Roman"/>
              </a:rPr>
              <a:t>2025</a:t>
            </a:r>
            <a:endParaRPr sz="2000" dirty="0">
              <a:latin typeface="Times New Roman"/>
              <a:cs typeface="Times New Roman"/>
            </a:endParaRPr>
          </a:p>
          <a:p>
            <a:pPr marL="1753870">
              <a:lnSpc>
                <a:spcPct val="10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marL="1753870">
              <a:lnSpc>
                <a:spcPct val="100000"/>
              </a:lnSpc>
            </a:pPr>
            <a:r>
              <a:rPr sz="2400" b="1" spc="-30" dirty="0">
                <a:latin typeface="Times New Roman"/>
                <a:cs typeface="Times New Roman"/>
              </a:rPr>
              <a:t>Venkata </a:t>
            </a:r>
            <a:r>
              <a:rPr sz="2400" b="1" dirty="0">
                <a:latin typeface="Times New Roman"/>
                <a:cs typeface="Times New Roman"/>
              </a:rPr>
              <a:t>Sai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Krishna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Kukkapalli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Background</a:t>
            </a:r>
            <a:r>
              <a:rPr lang="en-US" sz="3500" b="1" kern="1200" spc="-1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b="1" kern="1200" spc="-9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marR="53848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study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investigates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sociodemographic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timing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initiation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United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5080" indent="-228600" algn="l" rtl="0">
              <a:lnSpc>
                <a:spcPct val="90000"/>
              </a:lnSpc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Understanding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characteristics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mothers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pregnancy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deeper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exploration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influencing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neonatal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health,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intervention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strategies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 nationwide.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Population</a:t>
            </a:r>
            <a:r>
              <a:rPr lang="en-US" sz="3500" b="1" kern="1200" spc="-3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3500" b="1" kern="1200" spc="-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Interest: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marR="360045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study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pregnant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woman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United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States.</a:t>
            </a:r>
            <a:r>
              <a:rPr lang="en-US" sz="17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population is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understood to be from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diverse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according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collected,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National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Statistics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(NCHS)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5080" indent="-228600" algn="l" rtl="0">
              <a:lnSpc>
                <a:spcPct val="90000"/>
              </a:lnSpc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offers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wider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evaluate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characteristics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education,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marital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etc.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identification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inequities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trends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relevant to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 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Outcomes</a:t>
            </a:r>
            <a:r>
              <a:rPr lang="en-US" sz="3500" b="1" kern="1200" spc="-9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3500" b="1" kern="1200" spc="-8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marR="508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primary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assessed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study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birthweight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(measured in grams) and gestational age (measured in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weeks).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137160" indent="-228600" algn="l" rtl="0">
              <a:lnSpc>
                <a:spcPct val="90000"/>
              </a:lnSpc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studies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clinical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settings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indicators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neonatal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(&lt;2500g)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preterm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(&lt;37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weeks)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being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major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infant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morbidity,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 complications.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Independent</a:t>
            </a:r>
            <a:r>
              <a:rPr lang="en-US" sz="3500" b="1" kern="12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3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marR="460375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b="1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b="1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Start:</a:t>
            </a:r>
            <a:r>
              <a:rPr lang="en-US" sz="1700" b="1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trimester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initiated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(1st,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2nd,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3rd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trimester,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care)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b="1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</a:t>
            </a:r>
            <a:r>
              <a:rPr lang="en-US" sz="1700" b="1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Level:</a:t>
            </a:r>
            <a:r>
              <a:rPr lang="en-US" sz="1700" b="1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mother’s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(Less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indent="-228600" algn="l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HS,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Grad,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College,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College+)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Marital</a:t>
            </a:r>
            <a:r>
              <a:rPr lang="en-US" sz="1700" b="1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Status:</a:t>
            </a:r>
            <a:r>
              <a:rPr lang="en-US" sz="1700" b="1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Whether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mother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married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unmarried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4318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Plurality:</a:t>
            </a:r>
            <a:r>
              <a:rPr lang="en-US" sz="1700" b="1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Whether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singleton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multiples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(e.g., twins,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triplets)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b="1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Method:</a:t>
            </a:r>
            <a:r>
              <a:rPr lang="en-US" sz="1700" b="1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(vaginal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C-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section)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778510" indent="-228600" algn="l" rtl="0">
              <a:lnSpc>
                <a:spcPct val="90000"/>
              </a:lnSpc>
              <a:spcBef>
                <a:spcPts val="58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b="1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Age:</a:t>
            </a:r>
            <a:r>
              <a:rPr lang="en-US" sz="1700" b="1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mother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92075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BMI</a:t>
            </a:r>
            <a:r>
              <a:rPr lang="en-US" sz="1700" b="1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Category:</a:t>
            </a:r>
            <a:r>
              <a:rPr lang="en-US" sz="1700" b="1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body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classification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mother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(Underweight, Normal, Overweight,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Obese)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Existing</a:t>
            </a:r>
            <a:r>
              <a:rPr lang="en-US" sz="3500" b="1" kern="1200" spc="-4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</a:t>
            </a:r>
            <a:r>
              <a:rPr lang="en-US" sz="3500" b="1" kern="1200" spc="-3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b="1" kern="1200" spc="-4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Gaps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06400" marR="68580" indent="-228600" algn="l" rtl="0">
              <a:lnSpc>
                <a:spcPct val="90000"/>
              </a:lnSpc>
              <a:spcBef>
                <a:spcPts val="425"/>
              </a:spcBef>
              <a:buSzPct val="102083"/>
              <a:buFont typeface="Arial" panose="020B0604020202020204" pitchFamily="34" charset="0"/>
              <a:buChar char="•"/>
              <a:tabLst>
                <a:tab pos="406400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Reichman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Teitler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(2005)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initiation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trimester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modest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gains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birthweight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gestational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age;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concluded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alone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substantially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reverse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pre-existing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factors.</a:t>
            </a:r>
            <a:r>
              <a:rPr lang="en-US" sz="1700" kern="1200" spc="-15" baseline="25089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endParaRPr lang="en-US" sz="1700" kern="1200" baseline="25089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06400" marR="233679" indent="-228600" algn="l" rtl="0">
              <a:lnSpc>
                <a:spcPct val="90000"/>
              </a:lnSpc>
              <a:spcBef>
                <a:spcPts val="585"/>
              </a:spcBef>
              <a:buSzPct val="102083"/>
              <a:buFont typeface="Arial" panose="020B0604020202020204" pitchFamily="34" charset="0"/>
              <a:buChar char="•"/>
              <a:tabLst>
                <a:tab pos="406400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Partridge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al.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(2012)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conducted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large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retrospective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analysis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reported that inadequate prenatal care substantially increased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infant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mortality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birthweight.</a:t>
            </a:r>
            <a:r>
              <a:rPr lang="en-US" sz="1700" kern="1200" spc="-15" baseline="25089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endParaRPr lang="en-US" sz="1700" kern="1200" baseline="25089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06400" marR="212090" indent="-228600" algn="l" rtl="0">
              <a:lnSpc>
                <a:spcPct val="90000"/>
              </a:lnSpc>
              <a:spcBef>
                <a:spcPts val="585"/>
              </a:spcBef>
              <a:buSzPct val="102083"/>
              <a:buFont typeface="Arial" panose="020B0604020202020204" pitchFamily="34" charset="0"/>
              <a:buChar char="•"/>
              <a:tabLst>
                <a:tab pos="406400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existing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knowledge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highlights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influence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marital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pregnancy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outcomes,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suggesting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mediators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infant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 and well-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being.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Existing</a:t>
            </a:r>
            <a:r>
              <a:rPr lang="en-US" sz="3500" b="1" kern="1200" spc="-4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</a:t>
            </a:r>
            <a:r>
              <a:rPr lang="en-US" sz="3500" b="1" kern="1200" spc="-3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b="1" kern="1200" spc="-4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Gaps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marR="23241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studies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importance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characteristics,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few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explored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combined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sociodemographic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clinical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national, population-level data spanning multiple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508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studies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predictors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plurality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(Single,</a:t>
            </a:r>
            <a:r>
              <a:rPr lang="en-US" sz="17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Twin,</a:t>
            </a:r>
            <a:r>
              <a:rPr lang="en-US" sz="17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Triplets,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etc.)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unified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multivariate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framework.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249554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  <a:tab pos="308927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study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addresses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gap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examining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joint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contribution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 care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timing, education,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marital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seven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U.S.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natality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data</a:t>
            </a:r>
            <a:r>
              <a:rPr lang="en-US" sz="17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(2017-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2023).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Research</a:t>
            </a:r>
            <a:r>
              <a:rPr lang="en-US" sz="3500" b="1" kern="1200" spc="-7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</a:t>
            </a:r>
            <a:r>
              <a:rPr lang="en-US" sz="3500" b="1" kern="1200" spc="-7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b="1" kern="1200" spc="-7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Hypothesis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marR="508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RQ:</a:t>
            </a:r>
            <a:r>
              <a:rPr lang="en-US" sz="1700" b="1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“How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timing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initiation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(birthweight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gestational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age)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United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States,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accounting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sociodemographic factors?”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82550" indent="-228600" algn="l" rtl="0">
              <a:lnSpc>
                <a:spcPct val="90000"/>
              </a:lnSpc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Hypothesis:</a:t>
            </a:r>
            <a:r>
              <a:rPr lang="en-US" sz="1700" b="1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earlier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initiation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favorable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higher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birthweights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longer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gestational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durations.</a:t>
            </a:r>
            <a:r>
              <a:rPr lang="en-US" sz="17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Additionally,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higher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 education level and being married during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pregnancy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positive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outcomes.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</a:t>
            </a:r>
            <a:r>
              <a:rPr lang="en-US" sz="3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93065" marR="26289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930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dataset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about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2017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2023.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National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(NCHS),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natality data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containing birth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related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Disease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Prevention.</a:t>
            </a:r>
            <a:r>
              <a:rPr lang="en-US" sz="1700" kern="1200" spc="-15" baseline="25089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endParaRPr lang="en-US" sz="1700" kern="1200" baseline="25089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93065" marR="17780" indent="-228600" algn="l" rtl="0">
              <a:lnSpc>
                <a:spcPct val="90000"/>
              </a:lnSpc>
              <a:buSzPct val="102083"/>
              <a:buFont typeface="Arial" panose="020B0604020202020204" pitchFamily="34" charset="0"/>
              <a:buChar char="•"/>
              <a:tabLst>
                <a:tab pos="39306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collected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million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observations</a:t>
            </a:r>
            <a:r>
              <a:rPr lang="en-US" sz="17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seven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(2017-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2023),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70000,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10000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observations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year.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 spc="-3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Dependent:</a:t>
            </a:r>
            <a:r>
              <a:rPr lang="en-US" sz="1700" b="1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Birthweight,</a:t>
            </a:r>
            <a:r>
              <a:rPr lang="en-US" sz="17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Gestational</a:t>
            </a:r>
            <a:r>
              <a:rPr lang="en-US" sz="17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5080" indent="-228600" algn="l" rtl="0">
              <a:lnSpc>
                <a:spcPct val="90000"/>
              </a:lnSpc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Independent:</a:t>
            </a:r>
            <a:r>
              <a:rPr lang="en-US" sz="1700" b="1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Start,</a:t>
            </a:r>
            <a:r>
              <a:rPr lang="en-US" sz="17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Mother’s</a:t>
            </a:r>
            <a:r>
              <a:rPr lang="en-US" sz="17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Education,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Marital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Status,</a:t>
            </a:r>
            <a:r>
              <a:rPr lang="en-US" sz="17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Plurality,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Mother’s</a:t>
            </a:r>
            <a:r>
              <a:rPr lang="en-US" sz="17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BMI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Descriptive</a:t>
            </a:r>
            <a:r>
              <a:rPr b="1" spc="-1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Statistics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358"/>
            <a:ext cx="7072630" cy="92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102777"/>
              <a:buFont typeface="Arial MT"/>
              <a:buChar char="•"/>
              <a:tabLst>
                <a:tab pos="355600" algn="l"/>
              </a:tabLst>
            </a:pPr>
            <a:r>
              <a:rPr sz="1800" b="1" spc="-20" dirty="0">
                <a:latin typeface="Times New Roman"/>
                <a:cs typeface="Times New Roman"/>
              </a:rPr>
              <a:t>Table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1.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Descriptive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Characteristics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Study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Sample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(n=70000)</a:t>
            </a:r>
            <a:endParaRPr sz="18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520"/>
              </a:spcBef>
              <a:tabLst>
                <a:tab pos="6202045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VARIABLE</a:t>
            </a:r>
            <a:r>
              <a:rPr sz="1000" b="1" dirty="0">
                <a:latin typeface="Times New Roman"/>
                <a:cs typeface="Times New Roman"/>
              </a:rPr>
              <a:t>	</a:t>
            </a:r>
            <a:r>
              <a:rPr sz="1000" b="1" spc="-10" dirty="0">
                <a:latin typeface="Times New Roman"/>
                <a:cs typeface="Times New Roman"/>
              </a:rPr>
              <a:t>N=70000</a:t>
            </a:r>
            <a:endParaRPr sz="1000">
              <a:latin typeface="Times New Roman"/>
              <a:cs typeface="Times New Roman"/>
            </a:endParaRPr>
          </a:p>
          <a:p>
            <a:pPr marR="5715" algn="r">
              <a:lnSpc>
                <a:spcPct val="100000"/>
              </a:lnSpc>
              <a:spcBef>
                <a:spcPts val="970"/>
              </a:spcBef>
            </a:pPr>
            <a:r>
              <a:rPr sz="1000" spc="-10" dirty="0">
                <a:latin typeface="Times New Roman"/>
                <a:cs typeface="Times New Roman"/>
              </a:rPr>
              <a:t>Mean(SD)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8739" y="2643222"/>
            <a:ext cx="7702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Times New Roman"/>
                <a:cs typeface="Times New Roman"/>
              </a:rPr>
              <a:t>Maternal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Times New Roman"/>
                <a:cs typeface="Times New Roman"/>
              </a:rPr>
              <a:t>Age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7029" y="2643222"/>
            <a:ext cx="491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29.3(5.8)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8739" y="2918255"/>
            <a:ext cx="11296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Birthweight</a:t>
            </a:r>
            <a:r>
              <a:rPr sz="1000" b="1" spc="-5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(grams)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7339" y="3324655"/>
            <a:ext cx="519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(Missing)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3029" y="2918255"/>
            <a:ext cx="745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3252.3(592.3)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6754" y="3324655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Times New Roman"/>
                <a:cs typeface="Times New Roman"/>
              </a:rPr>
              <a:t>57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8739" y="3599687"/>
            <a:ext cx="10026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Gestational </a:t>
            </a:r>
            <a:r>
              <a:rPr sz="1000" b="1" spc="-10" dirty="0">
                <a:latin typeface="Times New Roman"/>
                <a:cs typeface="Times New Roman"/>
              </a:rPr>
              <a:t>weeks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7339" y="4006087"/>
            <a:ext cx="519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(Missing)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7029" y="3599687"/>
            <a:ext cx="491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38.5(2.5)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6754" y="4006087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Times New Roman"/>
                <a:cs typeface="Times New Roman"/>
              </a:rPr>
              <a:t>52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28166" y="4281119"/>
            <a:ext cx="279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Times New Roman"/>
                <a:cs typeface="Times New Roman"/>
              </a:rPr>
              <a:t>n(%)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8739" y="4556152"/>
            <a:ext cx="10934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Prenatal</a:t>
            </a:r>
            <a:r>
              <a:rPr sz="1000" b="1" spc="-5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Care</a:t>
            </a:r>
            <a:r>
              <a:rPr sz="1000" b="1" spc="-5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Times New Roman"/>
                <a:cs typeface="Times New Roman"/>
              </a:rPr>
              <a:t>Start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7339" y="4962552"/>
            <a:ext cx="6927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1st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Trimester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7339" y="5368951"/>
            <a:ext cx="7346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2nd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Trimester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7339" y="5775351"/>
            <a:ext cx="7137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3rd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Trimester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7339" y="6181751"/>
            <a:ext cx="900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No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Prenatal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Care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7339" y="6588151"/>
            <a:ext cx="519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(Missing)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83666" y="4962552"/>
            <a:ext cx="723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52,841 </a:t>
            </a:r>
            <a:r>
              <a:rPr sz="1000" spc="-10" dirty="0">
                <a:latin typeface="Times New Roman"/>
                <a:cs typeface="Times New Roman"/>
              </a:rPr>
              <a:t>(77%)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8379" y="5368951"/>
            <a:ext cx="7194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11,135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(16%)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15416" y="5775351"/>
            <a:ext cx="6921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3,103 </a:t>
            </a:r>
            <a:r>
              <a:rPr sz="1000" spc="-10" dirty="0">
                <a:latin typeface="Times New Roman"/>
                <a:cs typeface="Times New Roman"/>
              </a:rPr>
              <a:t>(4.5%)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15416" y="6181751"/>
            <a:ext cx="6921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1,353 </a:t>
            </a:r>
            <a:r>
              <a:rPr sz="1000" spc="-10" dirty="0">
                <a:latin typeface="Times New Roman"/>
                <a:cs typeface="Times New Roman"/>
              </a:rPr>
              <a:t>(2.0%)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98004" y="6588151"/>
            <a:ext cx="3111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1,568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48814" y="221135"/>
          <a:ext cx="7245984" cy="65716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4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4860">
                <a:tc>
                  <a:txBody>
                    <a:bodyPr/>
                    <a:lstStyle/>
                    <a:p>
                      <a:pPr marR="2819400" algn="ctr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Marital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81559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Married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36,708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(60%)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Unmarried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24,934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(40%)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(Missing)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8,358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9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70065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Education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Level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72732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≤8th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2,162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(3.1%)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9–12, no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diploma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6,040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(8.8%)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Associate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5,787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(8.4%)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Bachelor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14,704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(21%)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Doctorate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2,007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(2.9%)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Grad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18,117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(26%)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Master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6,904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(10%)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College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13,185 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Times New Roman"/>
                          <a:cs typeface="Times New Roman"/>
                        </a:rPr>
                        <a:t>(19%)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22250">
                        <a:lnSpc>
                          <a:spcPts val="136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(Missing)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6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1,094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874" y="415913"/>
            <a:ext cx="977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Maternal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BMI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26324" y="912567"/>
          <a:ext cx="6753225" cy="2971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5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27,417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(40%)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Obesity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10,897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(16%)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Obesity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5,462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(8.0%)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Obesity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III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3,976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(5.8%)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Overweight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18,683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(27%)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Underweight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2,032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(3.0%)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(Missing)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6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1,533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54874" y="4017472"/>
            <a:ext cx="601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Plurality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5374" y="4484832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Quadruplet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5374" y="4952192"/>
            <a:ext cx="610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Singleton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2631" y="5419552"/>
            <a:ext cx="434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Triplet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2631" y="5886912"/>
            <a:ext cx="33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Twin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5391" y="4484832"/>
            <a:ext cx="645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2 </a:t>
            </a:r>
            <a:r>
              <a:rPr sz="1200" spc="-10" dirty="0">
                <a:latin typeface="Times New Roman"/>
                <a:cs typeface="Times New Roman"/>
              </a:rPr>
              <a:t>(&lt;0.1%)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6316" y="4952192"/>
            <a:ext cx="863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67,737 </a:t>
            </a:r>
            <a:r>
              <a:rPr sz="1200" spc="-10" dirty="0">
                <a:latin typeface="Times New Roman"/>
                <a:cs typeface="Times New Roman"/>
              </a:rPr>
              <a:t>(97%)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39191" y="5419552"/>
            <a:ext cx="721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63 </a:t>
            </a:r>
            <a:r>
              <a:rPr sz="1200" spc="-10" dirty="0">
                <a:latin typeface="Times New Roman"/>
                <a:cs typeface="Times New Roman"/>
              </a:rPr>
              <a:t>(&lt;0.1%)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34416" y="5886912"/>
            <a:ext cx="825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2,198 </a:t>
            </a:r>
            <a:r>
              <a:rPr sz="1200" spc="-10" dirty="0">
                <a:latin typeface="Times New Roman"/>
                <a:cs typeface="Times New Roman"/>
              </a:rPr>
              <a:t>(3.1%)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8187" y="483232"/>
            <a:ext cx="837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Apgar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Score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69137" y="979886"/>
          <a:ext cx="5948680" cy="376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260350">
                        <a:lnSpc>
                          <a:spcPts val="131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0–3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424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(0.6%)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4–6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1,053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(1.5%)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7–8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9,273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(13%)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9–10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58,924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(85%)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R="1981835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(Missing)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36114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Delivery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326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22,580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(32%)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Vaginal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47,363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(68%)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60350">
                        <a:lnSpc>
                          <a:spcPts val="1360"/>
                        </a:lnSpc>
                        <a:spcBef>
                          <a:spcPts val="10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(Missing)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60"/>
                        </a:lnSpc>
                        <a:spcBef>
                          <a:spcPts val="10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86243" y="4995724"/>
            <a:ext cx="828040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-10" dirty="0">
                <a:latin typeface="Times New Roman"/>
                <a:cs typeface="Times New Roman"/>
              </a:rPr>
              <a:t>Table</a:t>
            </a:r>
            <a:r>
              <a:rPr sz="1400" i="1" spc="-2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1: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Continuous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variables are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presented as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mean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(standard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deviation).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Categorical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variables are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presented </a:t>
            </a:r>
            <a:r>
              <a:rPr sz="1400" i="1" spc="-25" dirty="0">
                <a:latin typeface="Times New Roman"/>
                <a:cs typeface="Times New Roman"/>
              </a:rPr>
              <a:t>as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</a:pPr>
            <a:r>
              <a:rPr sz="1400" i="1" dirty="0">
                <a:latin typeface="Times New Roman"/>
                <a:cs typeface="Times New Roman"/>
              </a:rPr>
              <a:t>number</a:t>
            </a:r>
            <a:r>
              <a:rPr sz="1400" i="1" spc="9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(percentage).</a:t>
            </a:r>
            <a:r>
              <a:rPr sz="1400" i="1" spc="10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Maternal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age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is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reported</a:t>
            </a:r>
            <a:r>
              <a:rPr sz="1400" i="1" spc="10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years,</a:t>
            </a:r>
            <a:r>
              <a:rPr sz="1400" i="1" spc="10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birthweight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grams,</a:t>
            </a:r>
            <a:r>
              <a:rPr sz="1400" i="1" spc="10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and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gestational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age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completed weeks.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US" sz="3500" b="1" kern="1200" spc="-9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Handling</a:t>
            </a:r>
            <a:r>
              <a:rPr lang="en-US" sz="3500" b="1" kern="1200" spc="-7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b="1" kern="1200" spc="-7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Management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97815" marR="27940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proceeding with the Bivariate and Multivariate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tests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cleaning,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Observations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missing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unknown</a:t>
            </a:r>
            <a:r>
              <a:rPr lang="en-US" sz="17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values</a:t>
            </a:r>
            <a:r>
              <a:rPr lang="en-US" sz="17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en-US" sz="17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excluded.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97815" marR="5080" indent="-228600" algn="l" rtl="0">
              <a:lnSpc>
                <a:spcPct val="90000"/>
              </a:lnSpc>
              <a:buSzPct val="102083"/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Rare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categories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like,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plurality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(triplets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higher)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clubbed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together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“Triplets+”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group.</a:t>
            </a:r>
            <a:r>
              <a:rPr lang="en-US" sz="17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variables</a:t>
            </a: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necessary,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performing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Bivariate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Multivariate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I(a):</a:t>
            </a:r>
            <a:r>
              <a:rPr lang="en-US" b="1" kern="1200" spc="-4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spc="-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Bivariate</a:t>
            </a:r>
            <a:r>
              <a:rPr lang="en-US" b="1" kern="1200" spc="-18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</a:t>
            </a:r>
            <a:r>
              <a:rPr lang="en-US" b="1" kern="1200" spc="-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</a:t>
            </a:r>
            <a:r>
              <a:rPr lang="en-US" b="1" kern="1200" spc="-2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One-way</a:t>
            </a:r>
            <a:r>
              <a:rPr lang="en-US" b="1" kern="1200" spc="-19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spc="-2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ANOVA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indent="-228600" algn="l" rtl="0">
              <a:lnSpc>
                <a:spcPct val="90000"/>
              </a:lnSpc>
              <a:spcBef>
                <a:spcPts val="285"/>
              </a:spcBef>
              <a:buSzPct val="102500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One-</a:t>
            </a:r>
            <a:r>
              <a:rPr lang="en-US" sz="17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en-US" sz="17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ANOVA: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Birthweight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vs.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Start.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5080" indent="-228600" algn="l" rtl="0">
              <a:lnSpc>
                <a:spcPct val="90000"/>
              </a:lnSpc>
              <a:spcBef>
                <a:spcPts val="509"/>
              </a:spcBef>
              <a:buSzPct val="102500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distribution,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inspection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Histogram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indicated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distribution.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Levene’s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homogeneity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variances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non-significant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0.05),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confirming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assumption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equal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variances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satisfied.</a:t>
            </a:r>
            <a:r>
              <a:rPr lang="en-US" sz="17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Therefore,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</a:t>
            </a:r>
            <a:r>
              <a:rPr lang="en-US" sz="17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ANOVA</a:t>
            </a:r>
            <a:r>
              <a:rPr lang="en-US" sz="17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appropriate.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139065" indent="-228600" algn="l" rtl="0">
              <a:lnSpc>
                <a:spcPct val="90000"/>
              </a:lnSpc>
              <a:spcBef>
                <a:spcPts val="480"/>
              </a:spcBef>
              <a:buSzPct val="102500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ANOVA</a:t>
            </a:r>
            <a:r>
              <a:rPr lang="en-US" sz="17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revealed a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statistically significant difference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birthweight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(F(3,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68384)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114,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2e-16),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indicating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timing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initiation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differences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birthweight.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171450" indent="-228600" algn="l" rtl="0">
              <a:lnSpc>
                <a:spcPct val="90000"/>
              </a:lnSpc>
              <a:spcBef>
                <a:spcPts val="480"/>
              </a:spcBef>
              <a:buSzPct val="102500"/>
              <a:buFont typeface="Arial" panose="020B0604020202020204" pitchFamily="34" charset="0"/>
              <a:buChar char="•"/>
              <a:tabLst>
                <a:tab pos="354965" algn="l"/>
                <a:tab pos="356870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Post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hoc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analysis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US" sz="17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Tukey’s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Honest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Difference</a:t>
            </a:r>
            <a:r>
              <a:rPr lang="en-US" sz="17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(HSD)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test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showed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trimester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births</a:t>
            </a:r>
            <a:r>
              <a:rPr lang="en-US" sz="17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weighed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significantly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less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en-US" sz="17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trimester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(mean difference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–48.8g,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17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0.001).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03360" y="1804833"/>
          <a:ext cx="7969249" cy="382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8515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Comparison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9875" algn="r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Difference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(g)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314" algn="r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95%CI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(Lower,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Upper)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Adjusted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p-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3086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2nd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Trimester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1st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20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66700" algn="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–48.8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20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08585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(–64.5,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–33.0)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20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6034" algn="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20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3rd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Trimester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1st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–15.4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(–43.2,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12.5)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0.49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Prenatal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Care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1st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–278.4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(–320.1,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–236.8)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3rd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Trimester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2nd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+33.4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(2.8,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64.0)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0.026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9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Prenatal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Care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2nd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–229.6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(–273.2,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–186.1)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12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Prenatal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Care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3rd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ts val="136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–263.1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ts val="1360"/>
                        </a:lnSpc>
                        <a:spcBef>
                          <a:spcPts val="12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(–312.3,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–213.8)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1360"/>
                        </a:lnSpc>
                        <a:spcBef>
                          <a:spcPts val="12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46488" y="562076"/>
            <a:ext cx="79273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Times New Roman"/>
                <a:cs typeface="Times New Roman"/>
              </a:rPr>
              <a:t>Table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I(a):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One-</a:t>
            </a:r>
            <a:r>
              <a:rPr sz="1400" b="1" spc="-30" dirty="0">
                <a:latin typeface="Times New Roman"/>
                <a:cs typeface="Times New Roman"/>
              </a:rPr>
              <a:t>Way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55" dirty="0">
                <a:latin typeface="Times New Roman"/>
                <a:cs typeface="Times New Roman"/>
              </a:rPr>
              <a:t>ANOVA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Post</a:t>
            </a:r>
            <a:r>
              <a:rPr sz="1400" b="1" spc="-10" dirty="0">
                <a:latin typeface="Times New Roman"/>
                <a:cs typeface="Times New Roman"/>
              </a:rPr>
              <a:t> Hoc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Analysis: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Birthweight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by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Prenatal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Care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Start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Timing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i="1" spc="-10" dirty="0">
                <a:latin typeface="Times New Roman"/>
                <a:cs typeface="Times New Roman"/>
              </a:rPr>
              <a:t>One-</a:t>
            </a:r>
            <a:r>
              <a:rPr sz="1400" i="1" dirty="0">
                <a:latin typeface="Times New Roman"/>
                <a:cs typeface="Times New Roman"/>
              </a:rPr>
              <a:t>way</a:t>
            </a:r>
            <a:r>
              <a:rPr sz="1400" i="1" spc="-60" dirty="0">
                <a:latin typeface="Times New Roman"/>
                <a:cs typeface="Times New Roman"/>
              </a:rPr>
              <a:t> </a:t>
            </a:r>
            <a:r>
              <a:rPr sz="1400" i="1" spc="-20" dirty="0">
                <a:latin typeface="Times New Roman"/>
                <a:cs typeface="Times New Roman"/>
              </a:rPr>
              <a:t>ANOVA</a:t>
            </a:r>
            <a:r>
              <a:rPr sz="1400" i="1" spc="-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comparing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group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means;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post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hoc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Tukey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HSD</a:t>
            </a:r>
            <a:r>
              <a:rPr sz="1400" i="1" spc="-40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results</a:t>
            </a:r>
            <a:r>
              <a:rPr sz="1400" i="1" spc="-4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included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for</a:t>
            </a:r>
            <a:r>
              <a:rPr sz="1400" i="1" spc="10" dirty="0">
                <a:latin typeface="Times New Roman"/>
                <a:cs typeface="Times New Roman"/>
              </a:rPr>
              <a:t> </a:t>
            </a:r>
            <a:r>
              <a:rPr sz="1400" b="1" i="1" dirty="0">
                <a:latin typeface="Times New Roman"/>
                <a:cs typeface="Times New Roman"/>
              </a:rPr>
              <a:t>all</a:t>
            </a:r>
            <a:r>
              <a:rPr sz="1400" b="1" i="1" spc="-35" dirty="0">
                <a:latin typeface="Times New Roman"/>
                <a:cs typeface="Times New Roman"/>
              </a:rPr>
              <a:t> </a:t>
            </a:r>
            <a:r>
              <a:rPr sz="1400" b="1" i="1" dirty="0">
                <a:latin typeface="Times New Roman"/>
                <a:cs typeface="Times New Roman"/>
              </a:rPr>
              <a:t>pairwise</a:t>
            </a:r>
            <a:r>
              <a:rPr sz="1400" b="1" i="1" spc="-35" dirty="0">
                <a:latin typeface="Times New Roman"/>
                <a:cs typeface="Times New Roman"/>
              </a:rPr>
              <a:t> </a:t>
            </a:r>
            <a:r>
              <a:rPr sz="1400" b="1" i="1" spc="-10" dirty="0">
                <a:latin typeface="Times New Roman"/>
                <a:cs typeface="Times New Roman"/>
              </a:rPr>
              <a:t>comparisons.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7900" y="1029276"/>
            <a:ext cx="2430780" cy="262382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520"/>
              </a:spcBef>
            </a:pPr>
            <a:r>
              <a:rPr sz="3100" b="1" dirty="0">
                <a:latin typeface="Calibri"/>
                <a:cs typeface="Calibri"/>
              </a:rPr>
              <a:t>Figure</a:t>
            </a:r>
            <a:r>
              <a:rPr sz="3100" b="1" spc="-145" dirty="0">
                <a:latin typeface="Calibri"/>
                <a:cs typeface="Calibri"/>
              </a:rPr>
              <a:t> </a:t>
            </a:r>
            <a:r>
              <a:rPr sz="3100" b="1" spc="-10" dirty="0">
                <a:latin typeface="Calibri"/>
                <a:cs typeface="Calibri"/>
              </a:rPr>
              <a:t>I(a): </a:t>
            </a:r>
            <a:r>
              <a:rPr sz="3100" b="1" dirty="0">
                <a:latin typeface="Calibri"/>
                <a:cs typeface="Calibri"/>
              </a:rPr>
              <a:t>Boxplot</a:t>
            </a:r>
            <a:r>
              <a:rPr sz="3100" b="1" spc="-65" dirty="0">
                <a:latin typeface="Calibri"/>
                <a:cs typeface="Calibri"/>
              </a:rPr>
              <a:t> </a:t>
            </a:r>
            <a:r>
              <a:rPr sz="3100" b="1" spc="-25" dirty="0">
                <a:latin typeface="Calibri"/>
                <a:cs typeface="Calibri"/>
              </a:rPr>
              <a:t>of </a:t>
            </a:r>
            <a:r>
              <a:rPr sz="3100" b="1" dirty="0">
                <a:latin typeface="Calibri"/>
                <a:cs typeface="Calibri"/>
              </a:rPr>
              <a:t>Birthweight</a:t>
            </a:r>
            <a:r>
              <a:rPr sz="3100" b="1" spc="-170" dirty="0">
                <a:latin typeface="Calibri"/>
                <a:cs typeface="Calibri"/>
              </a:rPr>
              <a:t> </a:t>
            </a:r>
            <a:r>
              <a:rPr sz="3100" b="1" spc="-25" dirty="0">
                <a:latin typeface="Calibri"/>
                <a:cs typeface="Calibri"/>
              </a:rPr>
              <a:t>by </a:t>
            </a:r>
            <a:r>
              <a:rPr sz="3100" b="1" dirty="0">
                <a:latin typeface="Calibri"/>
                <a:cs typeface="Calibri"/>
              </a:rPr>
              <a:t>Timing</a:t>
            </a:r>
            <a:r>
              <a:rPr sz="3100" b="1" spc="-120" dirty="0">
                <a:latin typeface="Calibri"/>
                <a:cs typeface="Calibri"/>
              </a:rPr>
              <a:t> </a:t>
            </a:r>
            <a:r>
              <a:rPr sz="3100" b="1" spc="-25" dirty="0">
                <a:latin typeface="Calibri"/>
                <a:cs typeface="Calibri"/>
              </a:rPr>
              <a:t>of </a:t>
            </a:r>
            <a:r>
              <a:rPr sz="3100" b="1" dirty="0">
                <a:latin typeface="Calibri"/>
                <a:cs typeface="Calibri"/>
              </a:rPr>
              <a:t>Prenatal</a:t>
            </a:r>
            <a:r>
              <a:rPr sz="3100" b="1" spc="-120" dirty="0">
                <a:latin typeface="Calibri"/>
                <a:cs typeface="Calibri"/>
              </a:rPr>
              <a:t> </a:t>
            </a:r>
            <a:r>
              <a:rPr sz="3100" b="1" spc="-20" dirty="0">
                <a:latin typeface="Calibri"/>
                <a:cs typeface="Calibri"/>
              </a:rPr>
              <a:t>Care </a:t>
            </a:r>
            <a:r>
              <a:rPr sz="3100" b="1" spc="-10" dirty="0">
                <a:latin typeface="Calibri"/>
                <a:cs typeface="Calibri"/>
              </a:rPr>
              <a:t>Initiation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900" y="4624150"/>
            <a:ext cx="2305685" cy="14274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110489">
              <a:lnSpc>
                <a:spcPts val="2160"/>
              </a:lnSpc>
              <a:spcBef>
                <a:spcPts val="370"/>
              </a:spcBef>
            </a:pPr>
            <a:r>
              <a:rPr sz="2000" i="1" spc="-10" dirty="0">
                <a:latin typeface="Calibri"/>
                <a:cs typeface="Calibri"/>
              </a:rPr>
              <a:t>Distributions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show </a:t>
            </a:r>
            <a:r>
              <a:rPr sz="2000" i="1" dirty="0">
                <a:latin typeface="Calibri"/>
                <a:cs typeface="Calibri"/>
              </a:rPr>
              <a:t>median, </a:t>
            </a:r>
            <a:r>
              <a:rPr sz="2000" i="1" spc="-10" dirty="0">
                <a:latin typeface="Calibri"/>
                <a:cs typeface="Calibri"/>
              </a:rPr>
              <a:t>interquartile </a:t>
            </a:r>
            <a:r>
              <a:rPr sz="2000" i="1" dirty="0">
                <a:latin typeface="Calibri"/>
                <a:cs typeface="Calibri"/>
              </a:rPr>
              <a:t>range,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10" dirty="0">
                <a:latin typeface="Calibri"/>
                <a:cs typeface="Calibri"/>
              </a:rPr>
              <a:t> outliers.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</a:pPr>
            <a:r>
              <a:rPr sz="2000" i="1" spc="-10" dirty="0">
                <a:latin typeface="Calibri"/>
                <a:cs typeface="Calibri"/>
              </a:rPr>
              <a:t>Birthweight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measured </a:t>
            </a:r>
            <a:r>
              <a:rPr sz="2000" i="1" dirty="0">
                <a:latin typeface="Calibri"/>
                <a:cs typeface="Calibri"/>
              </a:rPr>
              <a:t>in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grams.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3550" y="4382293"/>
            <a:ext cx="2479675" cy="78740"/>
            <a:chOff x="463550" y="4382293"/>
            <a:chExt cx="2479675" cy="78740"/>
          </a:xfrm>
        </p:grpSpPr>
        <p:sp>
          <p:nvSpPr>
            <p:cNvPr id="5" name="object 5"/>
            <p:cNvSpPr/>
            <p:nvPr/>
          </p:nvSpPr>
          <p:spPr>
            <a:xfrm>
              <a:off x="482458" y="4397037"/>
              <a:ext cx="2442210" cy="41910"/>
            </a:xfrm>
            <a:custGeom>
              <a:avLst/>
              <a:gdLst/>
              <a:ahLst/>
              <a:cxnLst/>
              <a:rect l="l" t="t" r="r" b="b"/>
              <a:pathLst>
                <a:path w="2442210" h="41910">
                  <a:moveTo>
                    <a:pt x="2441639" y="16796"/>
                  </a:moveTo>
                  <a:lnTo>
                    <a:pt x="1603019" y="16796"/>
                  </a:lnTo>
                  <a:lnTo>
                    <a:pt x="1654993" y="16432"/>
                  </a:lnTo>
                  <a:lnTo>
                    <a:pt x="1649219" y="16432"/>
                  </a:lnTo>
                  <a:lnTo>
                    <a:pt x="1693107" y="15671"/>
                  </a:lnTo>
                  <a:lnTo>
                    <a:pt x="1738829" y="14276"/>
                  </a:lnTo>
                  <a:lnTo>
                    <a:pt x="1909293" y="5328"/>
                  </a:lnTo>
                  <a:lnTo>
                    <a:pt x="1997950" y="1816"/>
                  </a:lnTo>
                  <a:lnTo>
                    <a:pt x="2044445" y="660"/>
                  </a:lnTo>
                  <a:lnTo>
                    <a:pt x="2094680" y="0"/>
                  </a:lnTo>
                  <a:lnTo>
                    <a:pt x="2143427" y="0"/>
                  </a:lnTo>
                  <a:lnTo>
                    <a:pt x="2195185" y="660"/>
                  </a:lnTo>
                  <a:lnTo>
                    <a:pt x="2195901" y="660"/>
                  </a:lnTo>
                  <a:lnTo>
                    <a:pt x="2248668" y="2045"/>
                  </a:lnTo>
                  <a:lnTo>
                    <a:pt x="2250007" y="2045"/>
                  </a:lnTo>
                  <a:lnTo>
                    <a:pt x="2311858" y="4504"/>
                  </a:lnTo>
                  <a:lnTo>
                    <a:pt x="2374651" y="7834"/>
                  </a:lnTo>
                  <a:lnTo>
                    <a:pt x="2441321" y="12229"/>
                  </a:lnTo>
                  <a:lnTo>
                    <a:pt x="2441407" y="13467"/>
                  </a:lnTo>
                  <a:lnTo>
                    <a:pt x="2441521" y="15104"/>
                  </a:lnTo>
                  <a:lnTo>
                    <a:pt x="2441639" y="16796"/>
                  </a:lnTo>
                  <a:close/>
                </a:path>
                <a:path w="2442210" h="41910">
                  <a:moveTo>
                    <a:pt x="357866" y="41681"/>
                  </a:moveTo>
                  <a:lnTo>
                    <a:pt x="301616" y="41681"/>
                  </a:lnTo>
                  <a:lnTo>
                    <a:pt x="260974" y="41294"/>
                  </a:lnTo>
                  <a:lnTo>
                    <a:pt x="211620" y="40281"/>
                  </a:lnTo>
                  <a:lnTo>
                    <a:pt x="161195" y="38708"/>
                  </a:lnTo>
                  <a:lnTo>
                    <a:pt x="109349" y="36564"/>
                  </a:lnTo>
                  <a:lnTo>
                    <a:pt x="0" y="30517"/>
                  </a:lnTo>
                  <a:lnTo>
                    <a:pt x="0" y="12229"/>
                  </a:lnTo>
                  <a:lnTo>
                    <a:pt x="52321" y="8861"/>
                  </a:lnTo>
                  <a:lnTo>
                    <a:pt x="105459" y="6070"/>
                  </a:lnTo>
                  <a:lnTo>
                    <a:pt x="158977" y="3868"/>
                  </a:lnTo>
                  <a:lnTo>
                    <a:pt x="219771" y="2045"/>
                  </a:lnTo>
                  <a:lnTo>
                    <a:pt x="224152" y="2045"/>
                  </a:lnTo>
                  <a:lnTo>
                    <a:pt x="271820" y="1150"/>
                  </a:lnTo>
                  <a:lnTo>
                    <a:pt x="317464" y="896"/>
                  </a:lnTo>
                  <a:lnTo>
                    <a:pt x="368150" y="1150"/>
                  </a:lnTo>
                  <a:lnTo>
                    <a:pt x="417040" y="2045"/>
                  </a:lnTo>
                  <a:lnTo>
                    <a:pt x="463697" y="3590"/>
                  </a:lnTo>
                  <a:lnTo>
                    <a:pt x="507686" y="5795"/>
                  </a:lnTo>
                  <a:lnTo>
                    <a:pt x="548571" y="8672"/>
                  </a:lnTo>
                  <a:lnTo>
                    <a:pt x="624609" y="15671"/>
                  </a:lnTo>
                  <a:lnTo>
                    <a:pt x="624037" y="15671"/>
                  </a:lnTo>
                  <a:lnTo>
                    <a:pt x="666730" y="17921"/>
                  </a:lnTo>
                  <a:lnTo>
                    <a:pt x="709816" y="18970"/>
                  </a:lnTo>
                  <a:lnTo>
                    <a:pt x="2441703" y="19104"/>
                  </a:lnTo>
                  <a:lnTo>
                    <a:pt x="2441630" y="21273"/>
                  </a:lnTo>
                  <a:lnTo>
                    <a:pt x="1488278" y="21273"/>
                  </a:lnTo>
                  <a:lnTo>
                    <a:pt x="1435258" y="22561"/>
                  </a:lnTo>
                  <a:lnTo>
                    <a:pt x="1378851" y="25529"/>
                  </a:lnTo>
                  <a:lnTo>
                    <a:pt x="1359556" y="27119"/>
                  </a:lnTo>
                  <a:lnTo>
                    <a:pt x="765120" y="27119"/>
                  </a:lnTo>
                  <a:lnTo>
                    <a:pt x="712779" y="28061"/>
                  </a:lnTo>
                  <a:lnTo>
                    <a:pt x="659157" y="30517"/>
                  </a:lnTo>
                  <a:lnTo>
                    <a:pt x="554163" y="36205"/>
                  </a:lnTo>
                  <a:lnTo>
                    <a:pt x="454664" y="39956"/>
                  </a:lnTo>
                  <a:lnTo>
                    <a:pt x="406102" y="41077"/>
                  </a:lnTo>
                  <a:lnTo>
                    <a:pt x="357866" y="41681"/>
                  </a:lnTo>
                  <a:close/>
                </a:path>
                <a:path w="2442210" h="41910">
                  <a:moveTo>
                    <a:pt x="2441703" y="19104"/>
                  </a:moveTo>
                  <a:lnTo>
                    <a:pt x="754731" y="19104"/>
                  </a:lnTo>
                  <a:lnTo>
                    <a:pt x="801507" y="18534"/>
                  </a:lnTo>
                  <a:lnTo>
                    <a:pt x="1064403" y="12563"/>
                  </a:lnTo>
                  <a:lnTo>
                    <a:pt x="1123008" y="12229"/>
                  </a:lnTo>
                  <a:lnTo>
                    <a:pt x="1274307" y="13467"/>
                  </a:lnTo>
                  <a:lnTo>
                    <a:pt x="1427475" y="15671"/>
                  </a:lnTo>
                  <a:lnTo>
                    <a:pt x="1424636" y="15671"/>
                  </a:lnTo>
                  <a:lnTo>
                    <a:pt x="2441639" y="16796"/>
                  </a:lnTo>
                  <a:lnTo>
                    <a:pt x="2441703" y="19104"/>
                  </a:lnTo>
                  <a:close/>
                </a:path>
                <a:path w="2442210" h="41910">
                  <a:moveTo>
                    <a:pt x="1827100" y="30646"/>
                  </a:moveTo>
                  <a:lnTo>
                    <a:pt x="1776950" y="29725"/>
                  </a:lnTo>
                  <a:lnTo>
                    <a:pt x="1727557" y="28061"/>
                  </a:lnTo>
                  <a:lnTo>
                    <a:pt x="1727773" y="28061"/>
                  </a:lnTo>
                  <a:lnTo>
                    <a:pt x="1587135" y="22374"/>
                  </a:lnTo>
                  <a:lnTo>
                    <a:pt x="1536278" y="21273"/>
                  </a:lnTo>
                  <a:lnTo>
                    <a:pt x="2441630" y="21273"/>
                  </a:lnTo>
                  <a:lnTo>
                    <a:pt x="2441536" y="24080"/>
                  </a:lnTo>
                  <a:lnTo>
                    <a:pt x="2441425" y="27389"/>
                  </a:lnTo>
                  <a:lnTo>
                    <a:pt x="2441334" y="30120"/>
                  </a:lnTo>
                  <a:lnTo>
                    <a:pt x="1931539" y="30120"/>
                  </a:lnTo>
                  <a:lnTo>
                    <a:pt x="1827100" y="30646"/>
                  </a:lnTo>
                  <a:close/>
                </a:path>
                <a:path w="2442210" h="41910">
                  <a:moveTo>
                    <a:pt x="1163735" y="37935"/>
                  </a:moveTo>
                  <a:lnTo>
                    <a:pt x="1113839" y="37610"/>
                  </a:lnTo>
                  <a:lnTo>
                    <a:pt x="1064397" y="36390"/>
                  </a:lnTo>
                  <a:lnTo>
                    <a:pt x="866825" y="28571"/>
                  </a:lnTo>
                  <a:lnTo>
                    <a:pt x="816397" y="27389"/>
                  </a:lnTo>
                  <a:lnTo>
                    <a:pt x="765120" y="27119"/>
                  </a:lnTo>
                  <a:lnTo>
                    <a:pt x="1359556" y="27119"/>
                  </a:lnTo>
                  <a:lnTo>
                    <a:pt x="1267205" y="34574"/>
                  </a:lnTo>
                  <a:lnTo>
                    <a:pt x="1268253" y="34574"/>
                  </a:lnTo>
                  <a:lnTo>
                    <a:pt x="1214301" y="37062"/>
                  </a:lnTo>
                  <a:lnTo>
                    <a:pt x="1163735" y="37935"/>
                  </a:lnTo>
                  <a:close/>
                </a:path>
                <a:path w="2442210" h="41910">
                  <a:moveTo>
                    <a:pt x="2255075" y="34574"/>
                  </a:moveTo>
                  <a:lnTo>
                    <a:pt x="2244548" y="34574"/>
                  </a:lnTo>
                  <a:lnTo>
                    <a:pt x="2201487" y="34440"/>
                  </a:lnTo>
                  <a:lnTo>
                    <a:pt x="2105117" y="32817"/>
                  </a:lnTo>
                  <a:lnTo>
                    <a:pt x="2105759" y="32817"/>
                  </a:lnTo>
                  <a:lnTo>
                    <a:pt x="1979103" y="30341"/>
                  </a:lnTo>
                  <a:lnTo>
                    <a:pt x="1931539" y="30120"/>
                  </a:lnTo>
                  <a:lnTo>
                    <a:pt x="2441334" y="30120"/>
                  </a:lnTo>
                  <a:lnTo>
                    <a:pt x="2441321" y="30517"/>
                  </a:lnTo>
                  <a:lnTo>
                    <a:pt x="2370838" y="32817"/>
                  </a:lnTo>
                  <a:lnTo>
                    <a:pt x="2308266" y="34118"/>
                  </a:lnTo>
                  <a:lnTo>
                    <a:pt x="2255075" y="3457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2600" y="4401343"/>
              <a:ext cx="2441575" cy="40640"/>
            </a:xfrm>
            <a:custGeom>
              <a:avLst/>
              <a:gdLst/>
              <a:ahLst/>
              <a:cxnLst/>
              <a:rect l="l" t="t" r="r" b="b"/>
              <a:pathLst>
                <a:path w="2441575" h="40639">
                  <a:moveTo>
                    <a:pt x="0" y="7937"/>
                  </a:moveTo>
                  <a:lnTo>
                    <a:pt x="174625" y="0"/>
                  </a:lnTo>
                  <a:lnTo>
                    <a:pt x="309562" y="0"/>
                  </a:lnTo>
                  <a:lnTo>
                    <a:pt x="585787" y="7937"/>
                  </a:lnTo>
                  <a:lnTo>
                    <a:pt x="900906" y="6350"/>
                  </a:lnTo>
                  <a:lnTo>
                    <a:pt x="1046956" y="4762"/>
                  </a:lnTo>
                  <a:lnTo>
                    <a:pt x="1196181" y="7937"/>
                  </a:lnTo>
                  <a:lnTo>
                    <a:pt x="1347787" y="11906"/>
                  </a:lnTo>
                  <a:lnTo>
                    <a:pt x="1497012" y="11906"/>
                  </a:lnTo>
                  <a:lnTo>
                    <a:pt x="1806575" y="7937"/>
                  </a:lnTo>
                  <a:lnTo>
                    <a:pt x="2132806" y="11906"/>
                  </a:lnTo>
                  <a:lnTo>
                    <a:pt x="2290762" y="11906"/>
                  </a:lnTo>
                  <a:lnTo>
                    <a:pt x="2441575" y="7937"/>
                  </a:lnTo>
                  <a:lnTo>
                    <a:pt x="2441575" y="26193"/>
                  </a:lnTo>
                  <a:lnTo>
                    <a:pt x="2115343" y="38893"/>
                  </a:lnTo>
                  <a:lnTo>
                    <a:pt x="1978818" y="37306"/>
                  </a:lnTo>
                  <a:lnTo>
                    <a:pt x="1831181" y="26193"/>
                  </a:lnTo>
                  <a:lnTo>
                    <a:pt x="1685925" y="15875"/>
                  </a:lnTo>
                  <a:lnTo>
                    <a:pt x="1558925" y="13493"/>
                  </a:lnTo>
                  <a:lnTo>
                    <a:pt x="1270000" y="26193"/>
                  </a:lnTo>
                  <a:lnTo>
                    <a:pt x="975518" y="40481"/>
                  </a:lnTo>
                  <a:lnTo>
                    <a:pt x="846931" y="38100"/>
                  </a:lnTo>
                  <a:lnTo>
                    <a:pt x="708025" y="26193"/>
                  </a:lnTo>
                  <a:lnTo>
                    <a:pt x="559593" y="17462"/>
                  </a:lnTo>
                  <a:lnTo>
                    <a:pt x="404018" y="19050"/>
                  </a:lnTo>
                  <a:lnTo>
                    <a:pt x="223043" y="24606"/>
                  </a:lnTo>
                  <a:lnTo>
                    <a:pt x="0" y="26193"/>
                  </a:lnTo>
                  <a:lnTo>
                    <a:pt x="0" y="7937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8864" y="1550316"/>
            <a:ext cx="5298233" cy="37441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I(b):</a:t>
            </a:r>
            <a:r>
              <a:rPr lang="en-US" b="1" kern="1200" spc="-7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spc="-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Bivariate</a:t>
            </a:r>
            <a:r>
              <a:rPr lang="en-US" b="1" kern="1200" spc="-18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</a:t>
            </a:r>
            <a:r>
              <a:rPr lang="en-US" b="1" kern="1200" spc="-4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–</a:t>
            </a:r>
            <a:r>
              <a:rPr lang="en-US" b="1" kern="1200" spc="-3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Chi-Square</a:t>
            </a:r>
            <a:r>
              <a:rPr lang="en-US" b="1" kern="1200" spc="-114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spc="-2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indent="-228600" algn="l" rtl="0">
              <a:lnSpc>
                <a:spcPct val="90000"/>
              </a:lnSpc>
              <a:spcBef>
                <a:spcPts val="330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Chi-square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test: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Plurality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318135" indent="-228600" algn="l" rtl="0">
              <a:lnSpc>
                <a:spcPct val="90000"/>
              </a:lnSpc>
              <a:spcBef>
                <a:spcPts val="62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Assumptions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chi-square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checked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satisfied.</a:t>
            </a:r>
            <a:r>
              <a:rPr lang="en-US" sz="17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Specifically,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frequencies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greater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five,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observations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independent.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Therefore,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Pearson’s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Chi-square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appropriate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analysis.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3060" marR="5080" indent="-228600" algn="l" rtl="0">
              <a:lnSpc>
                <a:spcPct val="90000"/>
              </a:lnSpc>
              <a:spcBef>
                <a:spcPts val="585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test revealed a statistically significant association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	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plurality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method,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χ²(2,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69,943)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2034.2,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2.2e-</a:t>
            </a:r>
            <a:r>
              <a:rPr lang="en-US" sz="17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3695" indent="-228600" algn="l" rtl="0">
              <a:lnSpc>
                <a:spcPct val="90000"/>
              </a:lnSpc>
              <a:spcBef>
                <a:spcPts val="254"/>
              </a:spcBef>
              <a:buSzPct val="102083"/>
              <a:buFont typeface="Arial" panose="020B0604020202020204" pitchFamily="34" charset="0"/>
              <a:buChar char="•"/>
              <a:tabLst>
                <a:tab pos="353695" algn="l"/>
              </a:tabLs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Cesarean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births.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42669" y="1509251"/>
          <a:ext cx="6824345" cy="3582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6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370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Plurality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4505" algn="r">
                        <a:lnSpc>
                          <a:spcPts val="1964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C-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Section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0" algn="r">
                        <a:lnSpc>
                          <a:spcPts val="1964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Vaginal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64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Total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Singleton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48387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20,867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403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46,813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67,680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Twin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48387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1,648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403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550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2,198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Triplet+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0190" marB="0"/>
                </a:tc>
                <a:tc>
                  <a:txBody>
                    <a:bodyPr/>
                    <a:lstStyle/>
                    <a:p>
                      <a:pPr marR="483870" algn="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65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0190" marB="0"/>
                </a:tc>
                <a:tc>
                  <a:txBody>
                    <a:bodyPr/>
                    <a:lstStyle/>
                    <a:p>
                      <a:pPr marR="540385" algn="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01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65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01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09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Total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483870" algn="r">
                        <a:lnSpc>
                          <a:spcPts val="209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22,580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40385" algn="r">
                        <a:lnSpc>
                          <a:spcPts val="209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47,363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209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69,943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73418" y="585969"/>
            <a:ext cx="81902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latin typeface="Times New Roman"/>
                <a:cs typeface="Times New Roman"/>
              </a:rPr>
              <a:t>Table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I(b):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Chi-Square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Test: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Observed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Counts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Delivery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Method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Plurality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i="1" spc="-30" dirty="0">
                <a:latin typeface="Times New Roman"/>
                <a:cs typeface="Times New Roman"/>
              </a:rPr>
              <a:t>Values </a:t>
            </a:r>
            <a:r>
              <a:rPr sz="1600" i="1" spc="-10" dirty="0">
                <a:latin typeface="Times New Roman"/>
                <a:cs typeface="Times New Roman"/>
              </a:rPr>
              <a:t>reflect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the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number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of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births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by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mode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of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delivery.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Pearson</a:t>
            </a:r>
            <a:r>
              <a:rPr sz="1600" i="1" dirty="0">
                <a:latin typeface="Calibri"/>
                <a:cs typeface="Calibri"/>
              </a:rPr>
              <a:t>’</a:t>
            </a:r>
            <a:r>
              <a:rPr sz="1600" i="1" dirty="0">
                <a:latin typeface="Times New Roman"/>
                <a:cs typeface="Times New Roman"/>
              </a:rPr>
              <a:t>s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chi-</a:t>
            </a:r>
            <a:r>
              <a:rPr sz="1600" i="1" spc="-10" dirty="0">
                <a:latin typeface="Times New Roman"/>
                <a:cs typeface="Times New Roman"/>
              </a:rPr>
              <a:t>square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test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p-</a:t>
            </a:r>
            <a:r>
              <a:rPr sz="1600" i="1" dirty="0">
                <a:latin typeface="Times New Roman"/>
                <a:cs typeface="Times New Roman"/>
              </a:rPr>
              <a:t>value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&lt;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2.2e-</a:t>
            </a:r>
            <a:r>
              <a:rPr sz="1600" i="1" spc="-25" dirty="0">
                <a:latin typeface="Times New Roman"/>
                <a:cs typeface="Times New Roman"/>
              </a:rPr>
              <a:t>16.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941" y="663802"/>
            <a:ext cx="2320290" cy="12661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5"/>
              </a:spcBef>
            </a:pPr>
            <a:r>
              <a:rPr sz="2200" b="1" dirty="0">
                <a:latin typeface="Calibri"/>
                <a:cs typeface="Calibri"/>
              </a:rPr>
              <a:t>Figure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I(b):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Stacked </a:t>
            </a:r>
            <a:r>
              <a:rPr sz="2200" b="1" dirty="0">
                <a:latin typeface="Calibri"/>
                <a:cs typeface="Calibri"/>
              </a:rPr>
              <a:t>Bar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Chart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of </a:t>
            </a:r>
            <a:r>
              <a:rPr sz="2200" b="1" dirty="0">
                <a:latin typeface="Calibri"/>
                <a:cs typeface="Calibri"/>
              </a:rPr>
              <a:t>Delivery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Method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by </a:t>
            </a:r>
            <a:r>
              <a:rPr sz="2200" b="1" spc="-10" dirty="0">
                <a:latin typeface="Calibri"/>
                <a:cs typeface="Calibri"/>
              </a:rPr>
              <a:t>Plurality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3550" y="2547143"/>
            <a:ext cx="2479675" cy="78740"/>
            <a:chOff x="463550" y="2547143"/>
            <a:chExt cx="2479675" cy="78740"/>
          </a:xfrm>
        </p:grpSpPr>
        <p:sp>
          <p:nvSpPr>
            <p:cNvPr id="4" name="object 4"/>
            <p:cNvSpPr/>
            <p:nvPr/>
          </p:nvSpPr>
          <p:spPr>
            <a:xfrm>
              <a:off x="482458" y="2561526"/>
              <a:ext cx="2442210" cy="41910"/>
            </a:xfrm>
            <a:custGeom>
              <a:avLst/>
              <a:gdLst/>
              <a:ahLst/>
              <a:cxnLst/>
              <a:rect l="l" t="t" r="r" b="b"/>
              <a:pathLst>
                <a:path w="2442210" h="41910">
                  <a:moveTo>
                    <a:pt x="2441639" y="16796"/>
                  </a:moveTo>
                  <a:lnTo>
                    <a:pt x="1603021" y="16796"/>
                  </a:lnTo>
                  <a:lnTo>
                    <a:pt x="1654999" y="16432"/>
                  </a:lnTo>
                  <a:lnTo>
                    <a:pt x="1649222" y="16432"/>
                  </a:lnTo>
                  <a:lnTo>
                    <a:pt x="1693107" y="15671"/>
                  </a:lnTo>
                  <a:lnTo>
                    <a:pt x="1738829" y="14276"/>
                  </a:lnTo>
                  <a:lnTo>
                    <a:pt x="1909293" y="5328"/>
                  </a:lnTo>
                  <a:lnTo>
                    <a:pt x="1997950" y="1816"/>
                  </a:lnTo>
                  <a:lnTo>
                    <a:pt x="2044445" y="660"/>
                  </a:lnTo>
                  <a:lnTo>
                    <a:pt x="2094680" y="0"/>
                  </a:lnTo>
                  <a:lnTo>
                    <a:pt x="2143427" y="0"/>
                  </a:lnTo>
                  <a:lnTo>
                    <a:pt x="2195183" y="660"/>
                  </a:lnTo>
                  <a:lnTo>
                    <a:pt x="2195901" y="660"/>
                  </a:lnTo>
                  <a:lnTo>
                    <a:pt x="2248671" y="2045"/>
                  </a:lnTo>
                  <a:lnTo>
                    <a:pt x="2250008" y="2045"/>
                  </a:lnTo>
                  <a:lnTo>
                    <a:pt x="2311858" y="4504"/>
                  </a:lnTo>
                  <a:lnTo>
                    <a:pt x="2374651" y="7834"/>
                  </a:lnTo>
                  <a:lnTo>
                    <a:pt x="2441321" y="12229"/>
                  </a:lnTo>
                  <a:lnTo>
                    <a:pt x="2441407" y="13467"/>
                  </a:lnTo>
                  <a:lnTo>
                    <a:pt x="2441521" y="15104"/>
                  </a:lnTo>
                  <a:lnTo>
                    <a:pt x="2441639" y="16796"/>
                  </a:lnTo>
                  <a:close/>
                </a:path>
                <a:path w="2442210" h="41910">
                  <a:moveTo>
                    <a:pt x="357866" y="41681"/>
                  </a:moveTo>
                  <a:lnTo>
                    <a:pt x="301616" y="41681"/>
                  </a:lnTo>
                  <a:lnTo>
                    <a:pt x="260974" y="41294"/>
                  </a:lnTo>
                  <a:lnTo>
                    <a:pt x="211620" y="40281"/>
                  </a:lnTo>
                  <a:lnTo>
                    <a:pt x="161195" y="38708"/>
                  </a:lnTo>
                  <a:lnTo>
                    <a:pt x="109349" y="36564"/>
                  </a:lnTo>
                  <a:lnTo>
                    <a:pt x="0" y="30517"/>
                  </a:lnTo>
                  <a:lnTo>
                    <a:pt x="0" y="12229"/>
                  </a:lnTo>
                  <a:lnTo>
                    <a:pt x="52321" y="8861"/>
                  </a:lnTo>
                  <a:lnTo>
                    <a:pt x="105459" y="6070"/>
                  </a:lnTo>
                  <a:lnTo>
                    <a:pt x="158977" y="3868"/>
                  </a:lnTo>
                  <a:lnTo>
                    <a:pt x="219769" y="2045"/>
                  </a:lnTo>
                  <a:lnTo>
                    <a:pt x="224150" y="2045"/>
                  </a:lnTo>
                  <a:lnTo>
                    <a:pt x="271818" y="1150"/>
                  </a:lnTo>
                  <a:lnTo>
                    <a:pt x="317464" y="896"/>
                  </a:lnTo>
                  <a:lnTo>
                    <a:pt x="368150" y="1150"/>
                  </a:lnTo>
                  <a:lnTo>
                    <a:pt x="417040" y="2045"/>
                  </a:lnTo>
                  <a:lnTo>
                    <a:pt x="463697" y="3590"/>
                  </a:lnTo>
                  <a:lnTo>
                    <a:pt x="507686" y="5796"/>
                  </a:lnTo>
                  <a:lnTo>
                    <a:pt x="548571" y="8672"/>
                  </a:lnTo>
                  <a:lnTo>
                    <a:pt x="624609" y="15671"/>
                  </a:lnTo>
                  <a:lnTo>
                    <a:pt x="624037" y="15671"/>
                  </a:lnTo>
                  <a:lnTo>
                    <a:pt x="666730" y="17921"/>
                  </a:lnTo>
                  <a:lnTo>
                    <a:pt x="709816" y="18970"/>
                  </a:lnTo>
                  <a:lnTo>
                    <a:pt x="2441703" y="19104"/>
                  </a:lnTo>
                  <a:lnTo>
                    <a:pt x="2441630" y="21273"/>
                  </a:lnTo>
                  <a:lnTo>
                    <a:pt x="1488278" y="21273"/>
                  </a:lnTo>
                  <a:lnTo>
                    <a:pt x="1435258" y="22561"/>
                  </a:lnTo>
                  <a:lnTo>
                    <a:pt x="1378851" y="25528"/>
                  </a:lnTo>
                  <a:lnTo>
                    <a:pt x="1359557" y="27118"/>
                  </a:lnTo>
                  <a:lnTo>
                    <a:pt x="765120" y="27118"/>
                  </a:lnTo>
                  <a:lnTo>
                    <a:pt x="712779" y="28061"/>
                  </a:lnTo>
                  <a:lnTo>
                    <a:pt x="659157" y="30517"/>
                  </a:lnTo>
                  <a:lnTo>
                    <a:pt x="554163" y="36205"/>
                  </a:lnTo>
                  <a:lnTo>
                    <a:pt x="454664" y="39956"/>
                  </a:lnTo>
                  <a:lnTo>
                    <a:pt x="406102" y="41077"/>
                  </a:lnTo>
                  <a:lnTo>
                    <a:pt x="357866" y="41681"/>
                  </a:lnTo>
                  <a:close/>
                </a:path>
                <a:path w="2442210" h="41910">
                  <a:moveTo>
                    <a:pt x="2441703" y="19104"/>
                  </a:moveTo>
                  <a:lnTo>
                    <a:pt x="754731" y="19104"/>
                  </a:lnTo>
                  <a:lnTo>
                    <a:pt x="801507" y="18534"/>
                  </a:lnTo>
                  <a:lnTo>
                    <a:pt x="1064403" y="12563"/>
                  </a:lnTo>
                  <a:lnTo>
                    <a:pt x="1123008" y="12229"/>
                  </a:lnTo>
                  <a:lnTo>
                    <a:pt x="1274311" y="13467"/>
                  </a:lnTo>
                  <a:lnTo>
                    <a:pt x="1427480" y="15671"/>
                  </a:lnTo>
                  <a:lnTo>
                    <a:pt x="1424642" y="15671"/>
                  </a:lnTo>
                  <a:lnTo>
                    <a:pt x="2441639" y="16796"/>
                  </a:lnTo>
                  <a:lnTo>
                    <a:pt x="2441703" y="19104"/>
                  </a:lnTo>
                  <a:close/>
                </a:path>
                <a:path w="2442210" h="41910">
                  <a:moveTo>
                    <a:pt x="1827100" y="30646"/>
                  </a:moveTo>
                  <a:lnTo>
                    <a:pt x="1776950" y="29725"/>
                  </a:lnTo>
                  <a:lnTo>
                    <a:pt x="1727559" y="28061"/>
                  </a:lnTo>
                  <a:lnTo>
                    <a:pt x="1727774" y="28061"/>
                  </a:lnTo>
                  <a:lnTo>
                    <a:pt x="1587135" y="22374"/>
                  </a:lnTo>
                  <a:lnTo>
                    <a:pt x="1536279" y="21273"/>
                  </a:lnTo>
                  <a:lnTo>
                    <a:pt x="2441630" y="21273"/>
                  </a:lnTo>
                  <a:lnTo>
                    <a:pt x="2441536" y="24080"/>
                  </a:lnTo>
                  <a:lnTo>
                    <a:pt x="2441425" y="27389"/>
                  </a:lnTo>
                  <a:lnTo>
                    <a:pt x="2441334" y="30120"/>
                  </a:lnTo>
                  <a:lnTo>
                    <a:pt x="1931539" y="30120"/>
                  </a:lnTo>
                  <a:lnTo>
                    <a:pt x="1827100" y="30646"/>
                  </a:lnTo>
                  <a:close/>
                </a:path>
                <a:path w="2442210" h="41910">
                  <a:moveTo>
                    <a:pt x="1163735" y="37935"/>
                  </a:moveTo>
                  <a:lnTo>
                    <a:pt x="1113839" y="37610"/>
                  </a:lnTo>
                  <a:lnTo>
                    <a:pt x="1064397" y="36390"/>
                  </a:lnTo>
                  <a:lnTo>
                    <a:pt x="866825" y="28571"/>
                  </a:lnTo>
                  <a:lnTo>
                    <a:pt x="816397" y="27389"/>
                  </a:lnTo>
                  <a:lnTo>
                    <a:pt x="765120" y="27118"/>
                  </a:lnTo>
                  <a:lnTo>
                    <a:pt x="1359557" y="27118"/>
                  </a:lnTo>
                  <a:lnTo>
                    <a:pt x="1267206" y="34574"/>
                  </a:lnTo>
                  <a:lnTo>
                    <a:pt x="1268253" y="34574"/>
                  </a:lnTo>
                  <a:lnTo>
                    <a:pt x="1214301" y="37062"/>
                  </a:lnTo>
                  <a:lnTo>
                    <a:pt x="1163735" y="37935"/>
                  </a:lnTo>
                  <a:close/>
                </a:path>
                <a:path w="2442210" h="41910">
                  <a:moveTo>
                    <a:pt x="2255074" y="34574"/>
                  </a:moveTo>
                  <a:lnTo>
                    <a:pt x="2244551" y="34574"/>
                  </a:lnTo>
                  <a:lnTo>
                    <a:pt x="2201487" y="34439"/>
                  </a:lnTo>
                  <a:lnTo>
                    <a:pt x="2105117" y="32817"/>
                  </a:lnTo>
                  <a:lnTo>
                    <a:pt x="2105759" y="32817"/>
                  </a:lnTo>
                  <a:lnTo>
                    <a:pt x="1979103" y="30341"/>
                  </a:lnTo>
                  <a:lnTo>
                    <a:pt x="1931539" y="30120"/>
                  </a:lnTo>
                  <a:lnTo>
                    <a:pt x="2441334" y="30120"/>
                  </a:lnTo>
                  <a:lnTo>
                    <a:pt x="2441321" y="30517"/>
                  </a:lnTo>
                  <a:lnTo>
                    <a:pt x="2370838" y="32817"/>
                  </a:lnTo>
                  <a:lnTo>
                    <a:pt x="2308266" y="34118"/>
                  </a:lnTo>
                  <a:lnTo>
                    <a:pt x="2255074" y="3457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2600" y="2566193"/>
              <a:ext cx="2441575" cy="40640"/>
            </a:xfrm>
            <a:custGeom>
              <a:avLst/>
              <a:gdLst/>
              <a:ahLst/>
              <a:cxnLst/>
              <a:rect l="l" t="t" r="r" b="b"/>
              <a:pathLst>
                <a:path w="2441575" h="40639">
                  <a:moveTo>
                    <a:pt x="0" y="7937"/>
                  </a:moveTo>
                  <a:lnTo>
                    <a:pt x="174625" y="0"/>
                  </a:lnTo>
                  <a:lnTo>
                    <a:pt x="309562" y="0"/>
                  </a:lnTo>
                  <a:lnTo>
                    <a:pt x="585787" y="7937"/>
                  </a:lnTo>
                  <a:lnTo>
                    <a:pt x="900906" y="5556"/>
                  </a:lnTo>
                  <a:lnTo>
                    <a:pt x="1046956" y="4762"/>
                  </a:lnTo>
                  <a:lnTo>
                    <a:pt x="1196181" y="7937"/>
                  </a:lnTo>
                  <a:lnTo>
                    <a:pt x="1347787" y="11906"/>
                  </a:lnTo>
                  <a:lnTo>
                    <a:pt x="1497012" y="11112"/>
                  </a:lnTo>
                  <a:lnTo>
                    <a:pt x="1806575" y="7937"/>
                  </a:lnTo>
                  <a:lnTo>
                    <a:pt x="2132806" y="11906"/>
                  </a:lnTo>
                  <a:lnTo>
                    <a:pt x="2290762" y="11906"/>
                  </a:lnTo>
                  <a:lnTo>
                    <a:pt x="2441575" y="7937"/>
                  </a:lnTo>
                  <a:lnTo>
                    <a:pt x="2441575" y="26193"/>
                  </a:lnTo>
                  <a:lnTo>
                    <a:pt x="2115343" y="38100"/>
                  </a:lnTo>
                  <a:lnTo>
                    <a:pt x="1978818" y="36512"/>
                  </a:lnTo>
                  <a:lnTo>
                    <a:pt x="1831181" y="26193"/>
                  </a:lnTo>
                  <a:lnTo>
                    <a:pt x="1685925" y="15875"/>
                  </a:lnTo>
                  <a:lnTo>
                    <a:pt x="1558925" y="13493"/>
                  </a:lnTo>
                  <a:lnTo>
                    <a:pt x="1270000" y="26193"/>
                  </a:lnTo>
                  <a:lnTo>
                    <a:pt x="975518" y="40481"/>
                  </a:lnTo>
                  <a:lnTo>
                    <a:pt x="846931" y="38100"/>
                  </a:lnTo>
                  <a:lnTo>
                    <a:pt x="708025" y="26193"/>
                  </a:lnTo>
                  <a:lnTo>
                    <a:pt x="559593" y="16668"/>
                  </a:lnTo>
                  <a:lnTo>
                    <a:pt x="404018" y="18256"/>
                  </a:lnTo>
                  <a:lnTo>
                    <a:pt x="223043" y="23812"/>
                  </a:lnTo>
                  <a:lnTo>
                    <a:pt x="0" y="26193"/>
                  </a:lnTo>
                  <a:lnTo>
                    <a:pt x="0" y="7937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1941" y="2802199"/>
            <a:ext cx="2313305" cy="187896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228600">
              <a:lnSpc>
                <a:spcPts val="2050"/>
              </a:lnSpc>
              <a:spcBef>
                <a:spcPts val="360"/>
              </a:spcBef>
              <a:buSzPct val="102631"/>
              <a:buFont typeface="Arial MT"/>
              <a:buChar char="•"/>
              <a:tabLst>
                <a:tab pos="241300" algn="l"/>
              </a:tabLst>
            </a:pPr>
            <a:r>
              <a:rPr sz="1900" i="1" dirty="0">
                <a:latin typeface="Calibri"/>
                <a:cs typeface="Calibri"/>
              </a:rPr>
              <a:t>Each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bar</a:t>
            </a:r>
            <a:r>
              <a:rPr sz="1900" i="1" spc="-2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represents </a:t>
            </a:r>
            <a:r>
              <a:rPr sz="1900" i="1" dirty="0">
                <a:latin typeface="Calibri"/>
                <a:cs typeface="Calibri"/>
              </a:rPr>
              <a:t>the</a:t>
            </a:r>
            <a:r>
              <a:rPr sz="1900" i="1" spc="-4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proportion</a:t>
            </a:r>
            <a:r>
              <a:rPr sz="1900" i="1" spc="-40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of </a:t>
            </a:r>
            <a:r>
              <a:rPr sz="1900" i="1" spc="-10" dirty="0">
                <a:latin typeface="Calibri"/>
                <a:cs typeface="Calibri"/>
              </a:rPr>
              <a:t>deliveries</a:t>
            </a:r>
            <a:r>
              <a:rPr sz="1900" i="1" spc="-2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by</a:t>
            </a:r>
            <a:r>
              <a:rPr sz="1900" i="1" spc="-1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mode</a:t>
            </a:r>
            <a:r>
              <a:rPr sz="1900" i="1" spc="-15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for </a:t>
            </a:r>
            <a:r>
              <a:rPr sz="1900" i="1" dirty="0">
                <a:latin typeface="Calibri"/>
                <a:cs typeface="Calibri"/>
              </a:rPr>
              <a:t>each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plurality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category. </a:t>
            </a:r>
            <a:r>
              <a:rPr sz="1900" i="1" dirty="0">
                <a:latin typeface="Calibri"/>
                <a:cs typeface="Calibri"/>
              </a:rPr>
              <a:t>Cesarean</a:t>
            </a:r>
            <a:r>
              <a:rPr sz="1900" i="1" spc="-5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delivery</a:t>
            </a:r>
            <a:r>
              <a:rPr sz="1900" i="1" spc="-50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is </a:t>
            </a:r>
            <a:r>
              <a:rPr sz="1900" i="1" dirty="0">
                <a:latin typeface="Calibri"/>
                <a:cs typeface="Calibri"/>
              </a:rPr>
              <a:t>more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common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in </a:t>
            </a:r>
            <a:r>
              <a:rPr sz="1900" i="1" dirty="0">
                <a:latin typeface="Calibri"/>
                <a:cs typeface="Calibri"/>
              </a:rPr>
              <a:t>multiple</a:t>
            </a:r>
            <a:r>
              <a:rPr sz="1900" i="1" spc="-6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births.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8415" y="1063170"/>
            <a:ext cx="5089998" cy="42181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II:</a:t>
            </a:r>
            <a:r>
              <a:rPr lang="en-US" b="1" kern="1200" spc="-9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Multivariate</a:t>
            </a:r>
            <a:r>
              <a:rPr lang="en-US" b="1" kern="1200" spc="-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</a:t>
            </a:r>
            <a:r>
              <a:rPr lang="en-US" b="1" kern="12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–</a:t>
            </a:r>
            <a:r>
              <a:rPr lang="en-US" b="1" kern="12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Linear</a:t>
            </a:r>
            <a:r>
              <a:rPr lang="en-US" b="1" kern="1200" spc="-114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marR="121920" indent="-228600" algn="l" rtl="0">
              <a:lnSpc>
                <a:spcPct val="90000"/>
              </a:lnSpc>
              <a:spcBef>
                <a:spcPts val="100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conducted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multivariable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regression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evaluate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demographic,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clinical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influence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infant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birthweight.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Predictors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included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maternal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age,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marital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status,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level,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timing,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BMI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category,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method,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plurality,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gestational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965" marR="59055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Assumptions</a:t>
            </a:r>
            <a:r>
              <a:rPr lang="en-US" sz="17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linearity,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homoscedasticity,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normality</a:t>
            </a:r>
            <a:r>
              <a:rPr lang="en-US" sz="17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residuals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verified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residual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plots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7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Q-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plots.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overall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</a:t>
            </a:r>
            <a:r>
              <a:rPr lang="en-US" sz="17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(F(21,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58,651)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1423,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17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2.2e-16),</a:t>
            </a:r>
            <a:r>
              <a:rPr lang="en-US" sz="17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Adjusted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R²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0.337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(Good</a:t>
            </a:r>
            <a:r>
              <a:rPr lang="en-US" sz="17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fit).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362" y="1367695"/>
            <a:ext cx="7606665" cy="186182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50"/>
              </a:spcBef>
              <a:buSzPct val="102083"/>
              <a:buFont typeface="Arial MT"/>
              <a:buChar char="•"/>
              <a:tabLst>
                <a:tab pos="297815" algn="l"/>
              </a:tabLst>
            </a:pPr>
            <a:r>
              <a:rPr sz="2400" dirty="0"/>
              <a:t>Gestational</a:t>
            </a:r>
            <a:r>
              <a:rPr sz="2400" spc="-45" dirty="0"/>
              <a:t> </a:t>
            </a:r>
            <a:r>
              <a:rPr sz="2400" dirty="0"/>
              <a:t>weeks</a:t>
            </a:r>
            <a:r>
              <a:rPr sz="2400" spc="-45" dirty="0"/>
              <a:t> </a:t>
            </a:r>
            <a:r>
              <a:rPr sz="2400" dirty="0"/>
              <a:t>(B</a:t>
            </a:r>
            <a:r>
              <a:rPr sz="2400" spc="-40" dirty="0"/>
              <a:t> </a:t>
            </a:r>
            <a:r>
              <a:rPr sz="2400" dirty="0"/>
              <a:t>=</a:t>
            </a:r>
            <a:r>
              <a:rPr sz="2400" spc="-40" dirty="0"/>
              <a:t> </a:t>
            </a:r>
            <a:r>
              <a:rPr sz="2400" dirty="0"/>
              <a:t>+116.22,</a:t>
            </a:r>
            <a:r>
              <a:rPr sz="2400" spc="-40" dirty="0"/>
              <a:t> </a:t>
            </a:r>
            <a:r>
              <a:rPr sz="2400" dirty="0"/>
              <a:t>95%</a:t>
            </a:r>
            <a:r>
              <a:rPr sz="2400" spc="-40" dirty="0"/>
              <a:t> </a:t>
            </a:r>
            <a:r>
              <a:rPr sz="2400" dirty="0"/>
              <a:t>CI:</a:t>
            </a:r>
            <a:r>
              <a:rPr sz="2400" spc="-40" dirty="0"/>
              <a:t> </a:t>
            </a:r>
            <a:r>
              <a:rPr sz="2400" dirty="0"/>
              <a:t>[114.59,</a:t>
            </a:r>
            <a:r>
              <a:rPr sz="2400" spc="-40" dirty="0"/>
              <a:t> </a:t>
            </a:r>
            <a:r>
              <a:rPr sz="2400" spc="-10" dirty="0"/>
              <a:t>117.84]) </a:t>
            </a:r>
            <a:r>
              <a:rPr sz="2400" dirty="0"/>
              <a:t>and</a:t>
            </a:r>
            <a:r>
              <a:rPr sz="2400" spc="-15" dirty="0"/>
              <a:t> </a:t>
            </a:r>
            <a:r>
              <a:rPr sz="2400" dirty="0"/>
              <a:t>maternal</a:t>
            </a:r>
            <a:r>
              <a:rPr sz="2400" spc="-20" dirty="0"/>
              <a:t> </a:t>
            </a:r>
            <a:r>
              <a:rPr sz="2400" dirty="0"/>
              <a:t>BMI</a:t>
            </a:r>
            <a:r>
              <a:rPr sz="2400" spc="-15" dirty="0"/>
              <a:t> </a:t>
            </a:r>
            <a:r>
              <a:rPr sz="2400" dirty="0"/>
              <a:t>(e.g.,</a:t>
            </a:r>
            <a:r>
              <a:rPr sz="2400" spc="-15" dirty="0"/>
              <a:t> </a:t>
            </a:r>
            <a:r>
              <a:rPr sz="2400" dirty="0"/>
              <a:t>Obesity</a:t>
            </a:r>
            <a:r>
              <a:rPr sz="2400" spc="-15" dirty="0"/>
              <a:t> </a:t>
            </a:r>
            <a:r>
              <a:rPr sz="2400" dirty="0"/>
              <a:t>III:</a:t>
            </a:r>
            <a:r>
              <a:rPr sz="2400" spc="-15" dirty="0"/>
              <a:t> </a:t>
            </a:r>
            <a:r>
              <a:rPr sz="2400" dirty="0"/>
              <a:t>B</a:t>
            </a:r>
            <a:r>
              <a:rPr sz="2400" spc="-15" dirty="0"/>
              <a:t> </a:t>
            </a:r>
            <a:r>
              <a:rPr sz="2400" dirty="0"/>
              <a:t>=</a:t>
            </a:r>
            <a:r>
              <a:rPr sz="2400" spc="-15" dirty="0"/>
              <a:t> </a:t>
            </a:r>
            <a:r>
              <a:rPr sz="2400" dirty="0"/>
              <a:t>+117.17,</a:t>
            </a:r>
            <a:r>
              <a:rPr sz="2400" spc="-15" dirty="0"/>
              <a:t> </a:t>
            </a:r>
            <a:r>
              <a:rPr sz="2400" spc="-25" dirty="0"/>
              <a:t>CI: </a:t>
            </a:r>
            <a:r>
              <a:rPr sz="2400" spc="-10" dirty="0"/>
              <a:t>[100.11,</a:t>
            </a:r>
            <a:r>
              <a:rPr sz="2400" spc="-30" dirty="0"/>
              <a:t> </a:t>
            </a:r>
            <a:r>
              <a:rPr sz="2400" dirty="0"/>
              <a:t>134.23])</a:t>
            </a:r>
            <a:r>
              <a:rPr sz="2400" spc="-30" dirty="0"/>
              <a:t> </a:t>
            </a:r>
            <a:r>
              <a:rPr sz="2400" dirty="0"/>
              <a:t>were</a:t>
            </a:r>
            <a:r>
              <a:rPr sz="2400" spc="-30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strongest</a:t>
            </a:r>
            <a:r>
              <a:rPr sz="2400" spc="-30" dirty="0"/>
              <a:t> </a:t>
            </a:r>
            <a:r>
              <a:rPr sz="2400" dirty="0"/>
              <a:t>positive</a:t>
            </a:r>
            <a:r>
              <a:rPr sz="2400" spc="-30" dirty="0"/>
              <a:t> </a:t>
            </a:r>
            <a:r>
              <a:rPr sz="2400" dirty="0"/>
              <a:t>predictors</a:t>
            </a:r>
            <a:r>
              <a:rPr sz="2400" spc="-30" dirty="0"/>
              <a:t> </a:t>
            </a:r>
            <a:r>
              <a:rPr sz="2400" spc="-25" dirty="0"/>
              <a:t>of </a:t>
            </a:r>
            <a:r>
              <a:rPr sz="2400" spc="-10" dirty="0"/>
              <a:t>birthweight.</a:t>
            </a:r>
            <a:endParaRPr sz="2400"/>
          </a:p>
          <a:p>
            <a:pPr marL="298450" indent="-285750">
              <a:lnSpc>
                <a:spcPct val="100000"/>
              </a:lnSpc>
              <a:buSzPct val="102083"/>
              <a:buFont typeface="Arial MT"/>
              <a:buChar char="•"/>
              <a:tabLst>
                <a:tab pos="298450" algn="l"/>
              </a:tabLst>
            </a:pPr>
            <a:r>
              <a:rPr sz="2400" dirty="0"/>
              <a:t>Being</a:t>
            </a:r>
            <a:r>
              <a:rPr sz="2400" spc="-15" dirty="0"/>
              <a:t> </a:t>
            </a:r>
            <a:r>
              <a:rPr sz="2400" dirty="0"/>
              <a:t>a</a:t>
            </a:r>
            <a:r>
              <a:rPr sz="2400" spc="-10" dirty="0"/>
              <a:t> </a:t>
            </a:r>
            <a:r>
              <a:rPr sz="2400" dirty="0"/>
              <a:t>twin</a:t>
            </a:r>
            <a:r>
              <a:rPr sz="2400" spc="-10" dirty="0"/>
              <a:t> </a:t>
            </a:r>
            <a:r>
              <a:rPr sz="2400" dirty="0"/>
              <a:t>(B</a:t>
            </a:r>
            <a:r>
              <a:rPr sz="2400" spc="-10" dirty="0"/>
              <a:t> </a:t>
            </a:r>
            <a:r>
              <a:rPr sz="2400" dirty="0"/>
              <a:t>=</a:t>
            </a:r>
            <a:r>
              <a:rPr sz="2400" spc="-10" dirty="0"/>
              <a:t> </a:t>
            </a:r>
            <a:r>
              <a:rPr sz="2400" dirty="0"/>
              <a:t>–578.81,</a:t>
            </a:r>
            <a:r>
              <a:rPr sz="2400" spc="-10" dirty="0"/>
              <a:t> </a:t>
            </a:r>
            <a:r>
              <a:rPr sz="2400" dirty="0"/>
              <a:t>CI:</a:t>
            </a:r>
            <a:r>
              <a:rPr sz="2400" spc="-10" dirty="0"/>
              <a:t> </a:t>
            </a:r>
            <a:r>
              <a:rPr sz="2400" dirty="0"/>
              <a:t>[–601.52,</a:t>
            </a:r>
            <a:r>
              <a:rPr sz="2400" spc="-10" dirty="0"/>
              <a:t> </a:t>
            </a:r>
            <a:r>
              <a:rPr sz="2400" dirty="0"/>
              <a:t>–556.09])</a:t>
            </a:r>
            <a:r>
              <a:rPr sz="2400" spc="-10" dirty="0"/>
              <a:t> </a:t>
            </a:r>
            <a:r>
              <a:rPr sz="2400" spc="-25" dirty="0"/>
              <a:t>or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30362" y="3202845"/>
            <a:ext cx="7563484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triplet+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–818.79,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[–952.65,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–684.94])</a:t>
            </a:r>
            <a:r>
              <a:rPr sz="2400" spc="-10" dirty="0">
                <a:latin typeface="Times New Roman"/>
                <a:cs typeface="Times New Roman"/>
              </a:rPr>
              <a:t> significantly</a:t>
            </a:r>
            <a:endParaRPr sz="2400">
              <a:latin typeface="Times New Roman"/>
              <a:cs typeface="Times New Roman"/>
            </a:endParaRPr>
          </a:p>
          <a:p>
            <a:pPr marL="29781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reduced </a:t>
            </a:r>
            <a:r>
              <a:rPr sz="2400" spc="-10" dirty="0">
                <a:latin typeface="Times New Roman"/>
                <a:cs typeface="Times New Roman"/>
              </a:rPr>
              <a:t>birthweight.</a:t>
            </a:r>
            <a:endParaRPr sz="2400">
              <a:latin typeface="Times New Roman"/>
              <a:cs typeface="Times New Roman"/>
            </a:endParaRPr>
          </a:p>
          <a:p>
            <a:pPr marL="297815" marR="43815" indent="-285750">
              <a:lnSpc>
                <a:spcPct val="100000"/>
              </a:lnSpc>
              <a:buSzPct val="102083"/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prenatal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associated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107.74g</a:t>
            </a:r>
            <a:r>
              <a:rPr sz="2400" spc="-10" dirty="0">
                <a:latin typeface="Times New Roman"/>
                <a:cs typeface="Times New Roman"/>
              </a:rPr>
              <a:t> reduction </a:t>
            </a:r>
            <a:r>
              <a:rPr sz="2400" dirty="0">
                <a:latin typeface="Times New Roman"/>
                <a:cs typeface="Times New Roman"/>
              </a:rPr>
              <a:t>(CI: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[–136.38,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–79.11],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0.001),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marital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status</a:t>
            </a:r>
            <a:r>
              <a:rPr sz="2400" spc="-25" dirty="0">
                <a:latin typeface="Times New Roman"/>
                <a:cs typeface="Times New Roman"/>
              </a:rPr>
              <a:t> and </a:t>
            </a:r>
            <a:r>
              <a:rPr sz="2400" dirty="0">
                <a:latin typeface="Times New Roman"/>
                <a:cs typeface="Times New Roman"/>
              </a:rPr>
              <a:t>lower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educational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attainment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significant </a:t>
            </a:r>
            <a:r>
              <a:rPr sz="2400" dirty="0">
                <a:latin typeface="Times New Roman"/>
                <a:cs typeface="Times New Roman"/>
              </a:rPr>
              <a:t>negative </a:t>
            </a:r>
            <a:r>
              <a:rPr sz="2400" spc="-10" dirty="0">
                <a:latin typeface="Times New Roman"/>
                <a:cs typeface="Times New Roman"/>
              </a:rPr>
              <a:t>associations.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3550" y="2547143"/>
            <a:ext cx="2479675" cy="78740"/>
            <a:chOff x="463550" y="2547143"/>
            <a:chExt cx="2479675" cy="78740"/>
          </a:xfrm>
        </p:grpSpPr>
        <p:sp>
          <p:nvSpPr>
            <p:cNvPr id="3" name="object 3"/>
            <p:cNvSpPr/>
            <p:nvPr/>
          </p:nvSpPr>
          <p:spPr>
            <a:xfrm>
              <a:off x="482458" y="2561526"/>
              <a:ext cx="2442210" cy="41910"/>
            </a:xfrm>
            <a:custGeom>
              <a:avLst/>
              <a:gdLst/>
              <a:ahLst/>
              <a:cxnLst/>
              <a:rect l="l" t="t" r="r" b="b"/>
              <a:pathLst>
                <a:path w="2442210" h="41910">
                  <a:moveTo>
                    <a:pt x="2441639" y="16796"/>
                  </a:moveTo>
                  <a:lnTo>
                    <a:pt x="1603021" y="16796"/>
                  </a:lnTo>
                  <a:lnTo>
                    <a:pt x="1654999" y="16432"/>
                  </a:lnTo>
                  <a:lnTo>
                    <a:pt x="1649222" y="16432"/>
                  </a:lnTo>
                  <a:lnTo>
                    <a:pt x="1693107" y="15671"/>
                  </a:lnTo>
                  <a:lnTo>
                    <a:pt x="1738829" y="14276"/>
                  </a:lnTo>
                  <a:lnTo>
                    <a:pt x="1909293" y="5328"/>
                  </a:lnTo>
                  <a:lnTo>
                    <a:pt x="1997950" y="1816"/>
                  </a:lnTo>
                  <a:lnTo>
                    <a:pt x="2044445" y="660"/>
                  </a:lnTo>
                  <a:lnTo>
                    <a:pt x="2094680" y="0"/>
                  </a:lnTo>
                  <a:lnTo>
                    <a:pt x="2143427" y="0"/>
                  </a:lnTo>
                  <a:lnTo>
                    <a:pt x="2195183" y="660"/>
                  </a:lnTo>
                  <a:lnTo>
                    <a:pt x="2195901" y="660"/>
                  </a:lnTo>
                  <a:lnTo>
                    <a:pt x="2248671" y="2045"/>
                  </a:lnTo>
                  <a:lnTo>
                    <a:pt x="2250008" y="2045"/>
                  </a:lnTo>
                  <a:lnTo>
                    <a:pt x="2311858" y="4504"/>
                  </a:lnTo>
                  <a:lnTo>
                    <a:pt x="2374651" y="7834"/>
                  </a:lnTo>
                  <a:lnTo>
                    <a:pt x="2441321" y="12229"/>
                  </a:lnTo>
                  <a:lnTo>
                    <a:pt x="2441407" y="13467"/>
                  </a:lnTo>
                  <a:lnTo>
                    <a:pt x="2441521" y="15104"/>
                  </a:lnTo>
                  <a:lnTo>
                    <a:pt x="2441639" y="16796"/>
                  </a:lnTo>
                  <a:close/>
                </a:path>
                <a:path w="2442210" h="41910">
                  <a:moveTo>
                    <a:pt x="357866" y="41681"/>
                  </a:moveTo>
                  <a:lnTo>
                    <a:pt x="301616" y="41681"/>
                  </a:lnTo>
                  <a:lnTo>
                    <a:pt x="260974" y="41294"/>
                  </a:lnTo>
                  <a:lnTo>
                    <a:pt x="211620" y="40281"/>
                  </a:lnTo>
                  <a:lnTo>
                    <a:pt x="161195" y="38708"/>
                  </a:lnTo>
                  <a:lnTo>
                    <a:pt x="109349" y="36564"/>
                  </a:lnTo>
                  <a:lnTo>
                    <a:pt x="0" y="30517"/>
                  </a:lnTo>
                  <a:lnTo>
                    <a:pt x="0" y="12229"/>
                  </a:lnTo>
                  <a:lnTo>
                    <a:pt x="52321" y="8861"/>
                  </a:lnTo>
                  <a:lnTo>
                    <a:pt x="105459" y="6070"/>
                  </a:lnTo>
                  <a:lnTo>
                    <a:pt x="158977" y="3868"/>
                  </a:lnTo>
                  <a:lnTo>
                    <a:pt x="219769" y="2045"/>
                  </a:lnTo>
                  <a:lnTo>
                    <a:pt x="224150" y="2045"/>
                  </a:lnTo>
                  <a:lnTo>
                    <a:pt x="271818" y="1150"/>
                  </a:lnTo>
                  <a:lnTo>
                    <a:pt x="317464" y="896"/>
                  </a:lnTo>
                  <a:lnTo>
                    <a:pt x="368150" y="1150"/>
                  </a:lnTo>
                  <a:lnTo>
                    <a:pt x="417040" y="2045"/>
                  </a:lnTo>
                  <a:lnTo>
                    <a:pt x="463697" y="3590"/>
                  </a:lnTo>
                  <a:lnTo>
                    <a:pt x="507686" y="5796"/>
                  </a:lnTo>
                  <a:lnTo>
                    <a:pt x="548571" y="8672"/>
                  </a:lnTo>
                  <a:lnTo>
                    <a:pt x="624609" y="15671"/>
                  </a:lnTo>
                  <a:lnTo>
                    <a:pt x="624037" y="15671"/>
                  </a:lnTo>
                  <a:lnTo>
                    <a:pt x="666730" y="17921"/>
                  </a:lnTo>
                  <a:lnTo>
                    <a:pt x="709816" y="18970"/>
                  </a:lnTo>
                  <a:lnTo>
                    <a:pt x="2441703" y="19104"/>
                  </a:lnTo>
                  <a:lnTo>
                    <a:pt x="2441630" y="21273"/>
                  </a:lnTo>
                  <a:lnTo>
                    <a:pt x="1488278" y="21273"/>
                  </a:lnTo>
                  <a:lnTo>
                    <a:pt x="1435258" y="22561"/>
                  </a:lnTo>
                  <a:lnTo>
                    <a:pt x="1378851" y="25528"/>
                  </a:lnTo>
                  <a:lnTo>
                    <a:pt x="1359557" y="27118"/>
                  </a:lnTo>
                  <a:lnTo>
                    <a:pt x="765120" y="27118"/>
                  </a:lnTo>
                  <a:lnTo>
                    <a:pt x="712779" y="28061"/>
                  </a:lnTo>
                  <a:lnTo>
                    <a:pt x="659157" y="30517"/>
                  </a:lnTo>
                  <a:lnTo>
                    <a:pt x="554163" y="36205"/>
                  </a:lnTo>
                  <a:lnTo>
                    <a:pt x="454664" y="39956"/>
                  </a:lnTo>
                  <a:lnTo>
                    <a:pt x="406102" y="41077"/>
                  </a:lnTo>
                  <a:lnTo>
                    <a:pt x="357866" y="41681"/>
                  </a:lnTo>
                  <a:close/>
                </a:path>
                <a:path w="2442210" h="41910">
                  <a:moveTo>
                    <a:pt x="2441703" y="19104"/>
                  </a:moveTo>
                  <a:lnTo>
                    <a:pt x="754731" y="19104"/>
                  </a:lnTo>
                  <a:lnTo>
                    <a:pt x="801507" y="18534"/>
                  </a:lnTo>
                  <a:lnTo>
                    <a:pt x="1064403" y="12563"/>
                  </a:lnTo>
                  <a:lnTo>
                    <a:pt x="1123008" y="12229"/>
                  </a:lnTo>
                  <a:lnTo>
                    <a:pt x="1274311" y="13467"/>
                  </a:lnTo>
                  <a:lnTo>
                    <a:pt x="1427480" y="15671"/>
                  </a:lnTo>
                  <a:lnTo>
                    <a:pt x="1424642" y="15671"/>
                  </a:lnTo>
                  <a:lnTo>
                    <a:pt x="2441639" y="16796"/>
                  </a:lnTo>
                  <a:lnTo>
                    <a:pt x="2441703" y="19104"/>
                  </a:lnTo>
                  <a:close/>
                </a:path>
                <a:path w="2442210" h="41910">
                  <a:moveTo>
                    <a:pt x="1827100" y="30646"/>
                  </a:moveTo>
                  <a:lnTo>
                    <a:pt x="1776950" y="29725"/>
                  </a:lnTo>
                  <a:lnTo>
                    <a:pt x="1727559" y="28061"/>
                  </a:lnTo>
                  <a:lnTo>
                    <a:pt x="1727774" y="28061"/>
                  </a:lnTo>
                  <a:lnTo>
                    <a:pt x="1587135" y="22374"/>
                  </a:lnTo>
                  <a:lnTo>
                    <a:pt x="1536279" y="21273"/>
                  </a:lnTo>
                  <a:lnTo>
                    <a:pt x="2441630" y="21273"/>
                  </a:lnTo>
                  <a:lnTo>
                    <a:pt x="2441536" y="24080"/>
                  </a:lnTo>
                  <a:lnTo>
                    <a:pt x="2441425" y="27389"/>
                  </a:lnTo>
                  <a:lnTo>
                    <a:pt x="2441334" y="30120"/>
                  </a:lnTo>
                  <a:lnTo>
                    <a:pt x="1931539" y="30120"/>
                  </a:lnTo>
                  <a:lnTo>
                    <a:pt x="1827100" y="30646"/>
                  </a:lnTo>
                  <a:close/>
                </a:path>
                <a:path w="2442210" h="41910">
                  <a:moveTo>
                    <a:pt x="1163735" y="37935"/>
                  </a:moveTo>
                  <a:lnTo>
                    <a:pt x="1113839" y="37610"/>
                  </a:lnTo>
                  <a:lnTo>
                    <a:pt x="1064397" y="36390"/>
                  </a:lnTo>
                  <a:lnTo>
                    <a:pt x="866825" y="28571"/>
                  </a:lnTo>
                  <a:lnTo>
                    <a:pt x="816397" y="27389"/>
                  </a:lnTo>
                  <a:lnTo>
                    <a:pt x="765120" y="27118"/>
                  </a:lnTo>
                  <a:lnTo>
                    <a:pt x="1359557" y="27118"/>
                  </a:lnTo>
                  <a:lnTo>
                    <a:pt x="1267206" y="34574"/>
                  </a:lnTo>
                  <a:lnTo>
                    <a:pt x="1268253" y="34574"/>
                  </a:lnTo>
                  <a:lnTo>
                    <a:pt x="1214301" y="37062"/>
                  </a:lnTo>
                  <a:lnTo>
                    <a:pt x="1163735" y="37935"/>
                  </a:lnTo>
                  <a:close/>
                </a:path>
                <a:path w="2442210" h="41910">
                  <a:moveTo>
                    <a:pt x="2255074" y="34574"/>
                  </a:moveTo>
                  <a:lnTo>
                    <a:pt x="2244551" y="34574"/>
                  </a:lnTo>
                  <a:lnTo>
                    <a:pt x="2201487" y="34439"/>
                  </a:lnTo>
                  <a:lnTo>
                    <a:pt x="2105117" y="32817"/>
                  </a:lnTo>
                  <a:lnTo>
                    <a:pt x="2105759" y="32817"/>
                  </a:lnTo>
                  <a:lnTo>
                    <a:pt x="1979103" y="30341"/>
                  </a:lnTo>
                  <a:lnTo>
                    <a:pt x="1931539" y="30120"/>
                  </a:lnTo>
                  <a:lnTo>
                    <a:pt x="2441334" y="30120"/>
                  </a:lnTo>
                  <a:lnTo>
                    <a:pt x="2441321" y="30517"/>
                  </a:lnTo>
                  <a:lnTo>
                    <a:pt x="2370838" y="32817"/>
                  </a:lnTo>
                  <a:lnTo>
                    <a:pt x="2308266" y="34118"/>
                  </a:lnTo>
                  <a:lnTo>
                    <a:pt x="2255074" y="3457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2600" y="2566193"/>
              <a:ext cx="2441575" cy="40640"/>
            </a:xfrm>
            <a:custGeom>
              <a:avLst/>
              <a:gdLst/>
              <a:ahLst/>
              <a:cxnLst/>
              <a:rect l="l" t="t" r="r" b="b"/>
              <a:pathLst>
                <a:path w="2441575" h="40639">
                  <a:moveTo>
                    <a:pt x="0" y="7937"/>
                  </a:moveTo>
                  <a:lnTo>
                    <a:pt x="174625" y="0"/>
                  </a:lnTo>
                  <a:lnTo>
                    <a:pt x="309562" y="0"/>
                  </a:lnTo>
                  <a:lnTo>
                    <a:pt x="585787" y="7937"/>
                  </a:lnTo>
                  <a:lnTo>
                    <a:pt x="900906" y="5556"/>
                  </a:lnTo>
                  <a:lnTo>
                    <a:pt x="1046956" y="4762"/>
                  </a:lnTo>
                  <a:lnTo>
                    <a:pt x="1196181" y="7937"/>
                  </a:lnTo>
                  <a:lnTo>
                    <a:pt x="1347787" y="11906"/>
                  </a:lnTo>
                  <a:lnTo>
                    <a:pt x="1497012" y="11112"/>
                  </a:lnTo>
                  <a:lnTo>
                    <a:pt x="1806575" y="7937"/>
                  </a:lnTo>
                  <a:lnTo>
                    <a:pt x="2132806" y="11906"/>
                  </a:lnTo>
                  <a:lnTo>
                    <a:pt x="2290762" y="11906"/>
                  </a:lnTo>
                  <a:lnTo>
                    <a:pt x="2441575" y="7937"/>
                  </a:lnTo>
                  <a:lnTo>
                    <a:pt x="2441575" y="26193"/>
                  </a:lnTo>
                  <a:lnTo>
                    <a:pt x="2115343" y="38100"/>
                  </a:lnTo>
                  <a:lnTo>
                    <a:pt x="1978818" y="36512"/>
                  </a:lnTo>
                  <a:lnTo>
                    <a:pt x="1831181" y="26193"/>
                  </a:lnTo>
                  <a:lnTo>
                    <a:pt x="1685925" y="15875"/>
                  </a:lnTo>
                  <a:lnTo>
                    <a:pt x="1558925" y="13493"/>
                  </a:lnTo>
                  <a:lnTo>
                    <a:pt x="1270000" y="26193"/>
                  </a:lnTo>
                  <a:lnTo>
                    <a:pt x="975518" y="40481"/>
                  </a:lnTo>
                  <a:lnTo>
                    <a:pt x="846931" y="38100"/>
                  </a:lnTo>
                  <a:lnTo>
                    <a:pt x="708025" y="26193"/>
                  </a:lnTo>
                  <a:lnTo>
                    <a:pt x="559593" y="16668"/>
                  </a:lnTo>
                  <a:lnTo>
                    <a:pt x="404018" y="18256"/>
                  </a:lnTo>
                  <a:lnTo>
                    <a:pt x="223043" y="23812"/>
                  </a:lnTo>
                  <a:lnTo>
                    <a:pt x="0" y="26193"/>
                  </a:lnTo>
                  <a:lnTo>
                    <a:pt x="0" y="7937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1941" y="2802199"/>
            <a:ext cx="2376805" cy="22155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208279" indent="228600">
              <a:lnSpc>
                <a:spcPts val="2050"/>
              </a:lnSpc>
              <a:spcBef>
                <a:spcPts val="360"/>
              </a:spcBef>
              <a:buSzPct val="102631"/>
              <a:buFont typeface="Arial MT"/>
              <a:buChar char="•"/>
              <a:tabLst>
                <a:tab pos="241300" algn="l"/>
              </a:tabLst>
            </a:pPr>
            <a:r>
              <a:rPr sz="1900" b="1" spc="-25" dirty="0">
                <a:latin typeface="Calibri"/>
                <a:cs typeface="Calibri"/>
              </a:rPr>
              <a:t>Table</a:t>
            </a:r>
            <a:r>
              <a:rPr sz="1900" b="1" spc="-6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II: </a:t>
            </a:r>
            <a:r>
              <a:rPr sz="1900" b="1" spc="-10" dirty="0">
                <a:latin typeface="Calibri"/>
                <a:cs typeface="Calibri"/>
              </a:rPr>
              <a:t>Multivariable</a:t>
            </a:r>
            <a:r>
              <a:rPr sz="1900" b="1" spc="-7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Linear Regression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Predicting Birthweight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(grams)</a:t>
            </a:r>
            <a:endParaRPr sz="1900">
              <a:latin typeface="Calibri"/>
              <a:cs typeface="Calibri"/>
            </a:endParaRPr>
          </a:p>
          <a:p>
            <a:pPr marL="12700" marR="5080" indent="228600">
              <a:lnSpc>
                <a:spcPts val="2050"/>
              </a:lnSpc>
              <a:spcBef>
                <a:spcPts val="605"/>
              </a:spcBef>
              <a:buSzPct val="102631"/>
              <a:buFont typeface="Arial MT"/>
              <a:buChar char="•"/>
              <a:tabLst>
                <a:tab pos="241300" algn="l"/>
              </a:tabLst>
            </a:pPr>
            <a:r>
              <a:rPr sz="1900" i="1" dirty="0">
                <a:latin typeface="Calibri"/>
                <a:cs typeface="Calibri"/>
              </a:rPr>
              <a:t>Coefficients</a:t>
            </a:r>
            <a:r>
              <a:rPr sz="1900" i="1" spc="-5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represent </a:t>
            </a:r>
            <a:r>
              <a:rPr sz="1900" i="1" dirty="0">
                <a:latin typeface="Calibri"/>
                <a:cs typeface="Calibri"/>
              </a:rPr>
              <a:t>changes</a:t>
            </a:r>
            <a:r>
              <a:rPr sz="1900" i="1" spc="-2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in</a:t>
            </a:r>
            <a:r>
              <a:rPr sz="1900" i="1" spc="-2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birthweight </a:t>
            </a:r>
            <a:r>
              <a:rPr sz="1900" i="1" dirty="0">
                <a:latin typeface="Calibri"/>
                <a:cs typeface="Calibri"/>
              </a:rPr>
              <a:t>relative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to</a:t>
            </a:r>
            <a:r>
              <a:rPr sz="1900" i="1" spc="-5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reference categories.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377264" y="325728"/>
          <a:ext cx="5445757" cy="6489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8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14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Predictor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0970" algn="r">
                        <a:lnSpc>
                          <a:spcPts val="114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Estimate 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(g)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ts val="114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95%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CI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(Lower,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Upper)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4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p-value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Intercept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–1278.61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(–1351.06,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–1206.17)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Maternal</a:t>
                      </a:r>
                      <a:r>
                        <a:rPr sz="105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Age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 (years)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+2.11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(1.34,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2.88)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Unmarried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–88.79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(–97.90,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–79.68)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Education: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9–12,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diploma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–38.23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(–64.14,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–12.32)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0.0038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Education: Associate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+2.18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(–23.70,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28.05)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0.869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Education: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Bachelor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+22.07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(–1.97,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46.12)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0.072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Education: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Doctorate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+7.85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(–24.30,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39.99)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0.632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Education: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HS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Grad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–27.11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(–50.67,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–3.55)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0.024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Education: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Master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+23.15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(–2.64,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48.94)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0.078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Education:</a:t>
                      </a:r>
                      <a:r>
                        <a:rPr sz="10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0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College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–20.57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(–44.55,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3.42)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0.093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2nd</a:t>
                      </a:r>
                      <a:r>
                        <a:rPr sz="10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Prenatal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Care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+4.12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(–6.44,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14.67)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0.444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3rd</a:t>
                      </a:r>
                      <a:r>
                        <a:rPr sz="10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Trimester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Prenatal</a:t>
                      </a:r>
                      <a:r>
                        <a:rPr sz="10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Care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+7.20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(–11.43,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25.83)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0.449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Prenatal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Care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–107.74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(–136.38,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–79.11)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BMI: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Underweight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–139.53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(–163.11,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–115.94)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BMI: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Overweight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+72.69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(63.06,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82.32)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BMI: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Obesity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+100.04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(88.54,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111.54)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BMI: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Obesity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II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+108.94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(93.87,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123.99)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BMI: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Obesity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III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+117.17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(100.11,</a:t>
                      </a:r>
                      <a:r>
                        <a:rPr sz="10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134.23)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Vaginal</a:t>
                      </a:r>
                      <a:r>
                        <a:rPr sz="10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Delivery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+3.73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(–4.86,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12.31)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0.395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Twin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–578.81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(–601.52,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–556.09)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Triplet+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–818.79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(–952.65,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–684.94)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  <a:spcBef>
                          <a:spcPts val="440"/>
                        </a:spcBef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Gestational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 Weeks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1175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+116.22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1175"/>
                        </a:lnSpc>
                        <a:spcBef>
                          <a:spcPts val="4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(114.59,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117.84)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75"/>
                        </a:lnSpc>
                        <a:spcBef>
                          <a:spcPts val="44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&lt;0.001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941" y="615948"/>
            <a:ext cx="2283460" cy="13576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360"/>
              </a:spcBef>
            </a:pPr>
            <a:r>
              <a:rPr sz="1900" b="1" dirty="0">
                <a:latin typeface="Calibri"/>
                <a:cs typeface="Calibri"/>
              </a:rPr>
              <a:t>Figure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II: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Forest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Plot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of </a:t>
            </a:r>
            <a:r>
              <a:rPr sz="1900" b="1" spc="-10" dirty="0">
                <a:latin typeface="Calibri"/>
                <a:cs typeface="Calibri"/>
              </a:rPr>
              <a:t>Adjusted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Regression Coefficients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for </a:t>
            </a:r>
            <a:r>
              <a:rPr sz="1900" b="1" spc="-10" dirty="0">
                <a:latin typeface="Calibri"/>
                <a:cs typeface="Calibri"/>
              </a:rPr>
              <a:t>Predictors</a:t>
            </a:r>
            <a:r>
              <a:rPr sz="1900" b="1" spc="-6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of </a:t>
            </a:r>
            <a:r>
              <a:rPr sz="1900" b="1" spc="-10" dirty="0">
                <a:latin typeface="Calibri"/>
                <a:cs typeface="Calibri"/>
              </a:rPr>
              <a:t>Birthweight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3550" y="2547143"/>
            <a:ext cx="2479675" cy="78740"/>
            <a:chOff x="463550" y="2547143"/>
            <a:chExt cx="2479675" cy="78740"/>
          </a:xfrm>
        </p:grpSpPr>
        <p:sp>
          <p:nvSpPr>
            <p:cNvPr id="4" name="object 4"/>
            <p:cNvSpPr/>
            <p:nvPr/>
          </p:nvSpPr>
          <p:spPr>
            <a:xfrm>
              <a:off x="482458" y="2561526"/>
              <a:ext cx="2442210" cy="41910"/>
            </a:xfrm>
            <a:custGeom>
              <a:avLst/>
              <a:gdLst/>
              <a:ahLst/>
              <a:cxnLst/>
              <a:rect l="l" t="t" r="r" b="b"/>
              <a:pathLst>
                <a:path w="2442210" h="41910">
                  <a:moveTo>
                    <a:pt x="2441639" y="16796"/>
                  </a:moveTo>
                  <a:lnTo>
                    <a:pt x="1603021" y="16796"/>
                  </a:lnTo>
                  <a:lnTo>
                    <a:pt x="1654999" y="16432"/>
                  </a:lnTo>
                  <a:lnTo>
                    <a:pt x="1649222" y="16432"/>
                  </a:lnTo>
                  <a:lnTo>
                    <a:pt x="1693107" y="15671"/>
                  </a:lnTo>
                  <a:lnTo>
                    <a:pt x="1738829" y="14276"/>
                  </a:lnTo>
                  <a:lnTo>
                    <a:pt x="1909293" y="5328"/>
                  </a:lnTo>
                  <a:lnTo>
                    <a:pt x="1997950" y="1816"/>
                  </a:lnTo>
                  <a:lnTo>
                    <a:pt x="2044445" y="660"/>
                  </a:lnTo>
                  <a:lnTo>
                    <a:pt x="2094680" y="0"/>
                  </a:lnTo>
                  <a:lnTo>
                    <a:pt x="2143427" y="0"/>
                  </a:lnTo>
                  <a:lnTo>
                    <a:pt x="2195183" y="660"/>
                  </a:lnTo>
                  <a:lnTo>
                    <a:pt x="2195901" y="660"/>
                  </a:lnTo>
                  <a:lnTo>
                    <a:pt x="2248671" y="2045"/>
                  </a:lnTo>
                  <a:lnTo>
                    <a:pt x="2250008" y="2045"/>
                  </a:lnTo>
                  <a:lnTo>
                    <a:pt x="2311858" y="4504"/>
                  </a:lnTo>
                  <a:lnTo>
                    <a:pt x="2374651" y="7834"/>
                  </a:lnTo>
                  <a:lnTo>
                    <a:pt x="2441321" y="12229"/>
                  </a:lnTo>
                  <a:lnTo>
                    <a:pt x="2441407" y="13467"/>
                  </a:lnTo>
                  <a:lnTo>
                    <a:pt x="2441521" y="15104"/>
                  </a:lnTo>
                  <a:lnTo>
                    <a:pt x="2441639" y="16796"/>
                  </a:lnTo>
                  <a:close/>
                </a:path>
                <a:path w="2442210" h="41910">
                  <a:moveTo>
                    <a:pt x="357866" y="41681"/>
                  </a:moveTo>
                  <a:lnTo>
                    <a:pt x="301616" y="41681"/>
                  </a:lnTo>
                  <a:lnTo>
                    <a:pt x="260974" y="41294"/>
                  </a:lnTo>
                  <a:lnTo>
                    <a:pt x="211620" y="40281"/>
                  </a:lnTo>
                  <a:lnTo>
                    <a:pt x="161195" y="38708"/>
                  </a:lnTo>
                  <a:lnTo>
                    <a:pt x="109349" y="36564"/>
                  </a:lnTo>
                  <a:lnTo>
                    <a:pt x="0" y="30517"/>
                  </a:lnTo>
                  <a:lnTo>
                    <a:pt x="0" y="12229"/>
                  </a:lnTo>
                  <a:lnTo>
                    <a:pt x="52321" y="8861"/>
                  </a:lnTo>
                  <a:lnTo>
                    <a:pt x="105459" y="6070"/>
                  </a:lnTo>
                  <a:lnTo>
                    <a:pt x="158977" y="3868"/>
                  </a:lnTo>
                  <a:lnTo>
                    <a:pt x="219769" y="2045"/>
                  </a:lnTo>
                  <a:lnTo>
                    <a:pt x="224150" y="2045"/>
                  </a:lnTo>
                  <a:lnTo>
                    <a:pt x="271818" y="1150"/>
                  </a:lnTo>
                  <a:lnTo>
                    <a:pt x="317464" y="896"/>
                  </a:lnTo>
                  <a:lnTo>
                    <a:pt x="368150" y="1150"/>
                  </a:lnTo>
                  <a:lnTo>
                    <a:pt x="417040" y="2045"/>
                  </a:lnTo>
                  <a:lnTo>
                    <a:pt x="463697" y="3590"/>
                  </a:lnTo>
                  <a:lnTo>
                    <a:pt x="507686" y="5796"/>
                  </a:lnTo>
                  <a:lnTo>
                    <a:pt x="548571" y="8672"/>
                  </a:lnTo>
                  <a:lnTo>
                    <a:pt x="624609" y="15671"/>
                  </a:lnTo>
                  <a:lnTo>
                    <a:pt x="624037" y="15671"/>
                  </a:lnTo>
                  <a:lnTo>
                    <a:pt x="666730" y="17921"/>
                  </a:lnTo>
                  <a:lnTo>
                    <a:pt x="709816" y="18970"/>
                  </a:lnTo>
                  <a:lnTo>
                    <a:pt x="2441703" y="19104"/>
                  </a:lnTo>
                  <a:lnTo>
                    <a:pt x="2441630" y="21273"/>
                  </a:lnTo>
                  <a:lnTo>
                    <a:pt x="1488278" y="21273"/>
                  </a:lnTo>
                  <a:lnTo>
                    <a:pt x="1435258" y="22561"/>
                  </a:lnTo>
                  <a:lnTo>
                    <a:pt x="1378851" y="25528"/>
                  </a:lnTo>
                  <a:lnTo>
                    <a:pt x="1359557" y="27118"/>
                  </a:lnTo>
                  <a:lnTo>
                    <a:pt x="765120" y="27118"/>
                  </a:lnTo>
                  <a:lnTo>
                    <a:pt x="712779" y="28061"/>
                  </a:lnTo>
                  <a:lnTo>
                    <a:pt x="659157" y="30517"/>
                  </a:lnTo>
                  <a:lnTo>
                    <a:pt x="554163" y="36205"/>
                  </a:lnTo>
                  <a:lnTo>
                    <a:pt x="454664" y="39956"/>
                  </a:lnTo>
                  <a:lnTo>
                    <a:pt x="406102" y="41077"/>
                  </a:lnTo>
                  <a:lnTo>
                    <a:pt x="357866" y="41681"/>
                  </a:lnTo>
                  <a:close/>
                </a:path>
                <a:path w="2442210" h="41910">
                  <a:moveTo>
                    <a:pt x="2441703" y="19104"/>
                  </a:moveTo>
                  <a:lnTo>
                    <a:pt x="754731" y="19104"/>
                  </a:lnTo>
                  <a:lnTo>
                    <a:pt x="801507" y="18534"/>
                  </a:lnTo>
                  <a:lnTo>
                    <a:pt x="1064403" y="12563"/>
                  </a:lnTo>
                  <a:lnTo>
                    <a:pt x="1123008" y="12229"/>
                  </a:lnTo>
                  <a:lnTo>
                    <a:pt x="1274311" y="13467"/>
                  </a:lnTo>
                  <a:lnTo>
                    <a:pt x="1427480" y="15671"/>
                  </a:lnTo>
                  <a:lnTo>
                    <a:pt x="1424642" y="15671"/>
                  </a:lnTo>
                  <a:lnTo>
                    <a:pt x="2441639" y="16796"/>
                  </a:lnTo>
                  <a:lnTo>
                    <a:pt x="2441703" y="19104"/>
                  </a:lnTo>
                  <a:close/>
                </a:path>
                <a:path w="2442210" h="41910">
                  <a:moveTo>
                    <a:pt x="1827100" y="30646"/>
                  </a:moveTo>
                  <a:lnTo>
                    <a:pt x="1776950" y="29725"/>
                  </a:lnTo>
                  <a:lnTo>
                    <a:pt x="1727559" y="28061"/>
                  </a:lnTo>
                  <a:lnTo>
                    <a:pt x="1727774" y="28061"/>
                  </a:lnTo>
                  <a:lnTo>
                    <a:pt x="1587135" y="22374"/>
                  </a:lnTo>
                  <a:lnTo>
                    <a:pt x="1536279" y="21273"/>
                  </a:lnTo>
                  <a:lnTo>
                    <a:pt x="2441630" y="21273"/>
                  </a:lnTo>
                  <a:lnTo>
                    <a:pt x="2441536" y="24080"/>
                  </a:lnTo>
                  <a:lnTo>
                    <a:pt x="2441425" y="27389"/>
                  </a:lnTo>
                  <a:lnTo>
                    <a:pt x="2441334" y="30120"/>
                  </a:lnTo>
                  <a:lnTo>
                    <a:pt x="1931539" y="30120"/>
                  </a:lnTo>
                  <a:lnTo>
                    <a:pt x="1827100" y="30646"/>
                  </a:lnTo>
                  <a:close/>
                </a:path>
                <a:path w="2442210" h="41910">
                  <a:moveTo>
                    <a:pt x="1163735" y="37935"/>
                  </a:moveTo>
                  <a:lnTo>
                    <a:pt x="1113839" y="37610"/>
                  </a:lnTo>
                  <a:lnTo>
                    <a:pt x="1064397" y="36390"/>
                  </a:lnTo>
                  <a:lnTo>
                    <a:pt x="866825" y="28571"/>
                  </a:lnTo>
                  <a:lnTo>
                    <a:pt x="816397" y="27389"/>
                  </a:lnTo>
                  <a:lnTo>
                    <a:pt x="765120" y="27118"/>
                  </a:lnTo>
                  <a:lnTo>
                    <a:pt x="1359557" y="27118"/>
                  </a:lnTo>
                  <a:lnTo>
                    <a:pt x="1267206" y="34574"/>
                  </a:lnTo>
                  <a:lnTo>
                    <a:pt x="1268253" y="34574"/>
                  </a:lnTo>
                  <a:lnTo>
                    <a:pt x="1214301" y="37062"/>
                  </a:lnTo>
                  <a:lnTo>
                    <a:pt x="1163735" y="37935"/>
                  </a:lnTo>
                  <a:close/>
                </a:path>
                <a:path w="2442210" h="41910">
                  <a:moveTo>
                    <a:pt x="2255074" y="34574"/>
                  </a:moveTo>
                  <a:lnTo>
                    <a:pt x="2244551" y="34574"/>
                  </a:lnTo>
                  <a:lnTo>
                    <a:pt x="2201487" y="34439"/>
                  </a:lnTo>
                  <a:lnTo>
                    <a:pt x="2105117" y="32817"/>
                  </a:lnTo>
                  <a:lnTo>
                    <a:pt x="2105759" y="32817"/>
                  </a:lnTo>
                  <a:lnTo>
                    <a:pt x="1979103" y="30341"/>
                  </a:lnTo>
                  <a:lnTo>
                    <a:pt x="1931539" y="30120"/>
                  </a:lnTo>
                  <a:lnTo>
                    <a:pt x="2441334" y="30120"/>
                  </a:lnTo>
                  <a:lnTo>
                    <a:pt x="2441321" y="30517"/>
                  </a:lnTo>
                  <a:lnTo>
                    <a:pt x="2370838" y="32817"/>
                  </a:lnTo>
                  <a:lnTo>
                    <a:pt x="2308266" y="34118"/>
                  </a:lnTo>
                  <a:lnTo>
                    <a:pt x="2255074" y="34574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2600" y="2566193"/>
              <a:ext cx="2441575" cy="40640"/>
            </a:xfrm>
            <a:custGeom>
              <a:avLst/>
              <a:gdLst/>
              <a:ahLst/>
              <a:cxnLst/>
              <a:rect l="l" t="t" r="r" b="b"/>
              <a:pathLst>
                <a:path w="2441575" h="40639">
                  <a:moveTo>
                    <a:pt x="0" y="7937"/>
                  </a:moveTo>
                  <a:lnTo>
                    <a:pt x="174625" y="0"/>
                  </a:lnTo>
                  <a:lnTo>
                    <a:pt x="309562" y="0"/>
                  </a:lnTo>
                  <a:lnTo>
                    <a:pt x="585787" y="7937"/>
                  </a:lnTo>
                  <a:lnTo>
                    <a:pt x="900906" y="5556"/>
                  </a:lnTo>
                  <a:lnTo>
                    <a:pt x="1046956" y="4762"/>
                  </a:lnTo>
                  <a:lnTo>
                    <a:pt x="1196181" y="7937"/>
                  </a:lnTo>
                  <a:lnTo>
                    <a:pt x="1347787" y="11906"/>
                  </a:lnTo>
                  <a:lnTo>
                    <a:pt x="1497012" y="11112"/>
                  </a:lnTo>
                  <a:lnTo>
                    <a:pt x="1806575" y="7937"/>
                  </a:lnTo>
                  <a:lnTo>
                    <a:pt x="2132806" y="11906"/>
                  </a:lnTo>
                  <a:lnTo>
                    <a:pt x="2290762" y="11906"/>
                  </a:lnTo>
                  <a:lnTo>
                    <a:pt x="2441575" y="7937"/>
                  </a:lnTo>
                  <a:lnTo>
                    <a:pt x="2441575" y="26193"/>
                  </a:lnTo>
                  <a:lnTo>
                    <a:pt x="2115343" y="38100"/>
                  </a:lnTo>
                  <a:lnTo>
                    <a:pt x="1978818" y="36512"/>
                  </a:lnTo>
                  <a:lnTo>
                    <a:pt x="1831181" y="26193"/>
                  </a:lnTo>
                  <a:lnTo>
                    <a:pt x="1685925" y="15875"/>
                  </a:lnTo>
                  <a:lnTo>
                    <a:pt x="1558925" y="13493"/>
                  </a:lnTo>
                  <a:lnTo>
                    <a:pt x="1270000" y="26193"/>
                  </a:lnTo>
                  <a:lnTo>
                    <a:pt x="975518" y="40481"/>
                  </a:lnTo>
                  <a:lnTo>
                    <a:pt x="846931" y="38100"/>
                  </a:lnTo>
                  <a:lnTo>
                    <a:pt x="708025" y="26193"/>
                  </a:lnTo>
                  <a:lnTo>
                    <a:pt x="559593" y="16668"/>
                  </a:lnTo>
                  <a:lnTo>
                    <a:pt x="404018" y="18256"/>
                  </a:lnTo>
                  <a:lnTo>
                    <a:pt x="223043" y="23812"/>
                  </a:lnTo>
                  <a:lnTo>
                    <a:pt x="0" y="26193"/>
                  </a:lnTo>
                  <a:lnTo>
                    <a:pt x="0" y="7937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1941" y="2802199"/>
            <a:ext cx="2357755" cy="24003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228600">
              <a:lnSpc>
                <a:spcPts val="2050"/>
              </a:lnSpc>
              <a:spcBef>
                <a:spcPts val="360"/>
              </a:spcBef>
              <a:buSzPct val="102631"/>
              <a:buFont typeface="Arial MT"/>
              <a:buChar char="•"/>
              <a:tabLst>
                <a:tab pos="241300" algn="l"/>
              </a:tabLst>
            </a:pPr>
            <a:r>
              <a:rPr sz="1900" i="1" dirty="0">
                <a:latin typeface="Calibri"/>
                <a:cs typeface="Calibri"/>
              </a:rPr>
              <a:t>Each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dot</a:t>
            </a:r>
            <a:r>
              <a:rPr sz="1900" i="1" spc="-2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represents </a:t>
            </a:r>
            <a:r>
              <a:rPr sz="1900" i="1" dirty="0">
                <a:latin typeface="Calibri"/>
                <a:cs typeface="Calibri"/>
              </a:rPr>
              <a:t>the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regression </a:t>
            </a:r>
            <a:r>
              <a:rPr sz="1900" i="1" dirty="0">
                <a:latin typeface="Calibri"/>
                <a:cs typeface="Calibri"/>
              </a:rPr>
              <a:t>coefficient</a:t>
            </a:r>
            <a:r>
              <a:rPr sz="1900" i="1" spc="-6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for</a:t>
            </a:r>
            <a:r>
              <a:rPr sz="1900" i="1" spc="-60" dirty="0">
                <a:latin typeface="Calibri"/>
                <a:cs typeface="Calibri"/>
              </a:rPr>
              <a:t> </a:t>
            </a:r>
            <a:r>
              <a:rPr sz="1900" i="1" spc="-50" dirty="0">
                <a:latin typeface="Calibri"/>
                <a:cs typeface="Calibri"/>
              </a:rPr>
              <a:t>a </a:t>
            </a:r>
            <a:r>
              <a:rPr sz="1900" i="1" dirty="0">
                <a:latin typeface="Calibri"/>
                <a:cs typeface="Calibri"/>
              </a:rPr>
              <a:t>predictor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variable.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Error </a:t>
            </a:r>
            <a:r>
              <a:rPr sz="1900" i="1" dirty="0">
                <a:latin typeface="Calibri"/>
                <a:cs typeface="Calibri"/>
              </a:rPr>
              <a:t>bars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indicate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95% </a:t>
            </a:r>
            <a:r>
              <a:rPr sz="1900" i="1" dirty="0">
                <a:latin typeface="Calibri"/>
                <a:cs typeface="Calibri"/>
              </a:rPr>
              <a:t>confidence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intervals. </a:t>
            </a:r>
            <a:r>
              <a:rPr sz="1900" i="1" dirty="0">
                <a:latin typeface="Calibri"/>
                <a:cs typeface="Calibri"/>
              </a:rPr>
              <a:t>The</a:t>
            </a:r>
            <a:r>
              <a:rPr sz="1900" i="1" spc="-3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red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dashed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spc="-20" dirty="0">
                <a:latin typeface="Calibri"/>
                <a:cs typeface="Calibri"/>
              </a:rPr>
              <a:t>line </a:t>
            </a:r>
            <a:r>
              <a:rPr sz="1900" i="1" spc="-10" dirty="0">
                <a:latin typeface="Calibri"/>
                <a:cs typeface="Calibri"/>
              </a:rPr>
              <a:t>represents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the</a:t>
            </a:r>
            <a:r>
              <a:rPr sz="1900" i="1" spc="-25" dirty="0">
                <a:latin typeface="Calibri"/>
                <a:cs typeface="Calibri"/>
              </a:rPr>
              <a:t> </a:t>
            </a:r>
            <a:r>
              <a:rPr sz="1900" i="1" spc="-20" dirty="0">
                <a:latin typeface="Calibri"/>
                <a:cs typeface="Calibri"/>
              </a:rPr>
              <a:t>null </a:t>
            </a:r>
            <a:r>
              <a:rPr sz="1900" i="1" dirty="0">
                <a:latin typeface="Calibri"/>
                <a:cs typeface="Calibri"/>
              </a:rPr>
              <a:t>value</a:t>
            </a:r>
            <a:r>
              <a:rPr sz="1900" i="1" spc="-2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(0</a:t>
            </a:r>
            <a:r>
              <a:rPr sz="1900" i="1" spc="-20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g).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277" y="1298304"/>
            <a:ext cx="5838320" cy="473906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Results</a:t>
            </a:r>
            <a:r>
              <a:rPr sz="4400" spc="-165" dirty="0"/>
              <a:t> </a:t>
            </a:r>
            <a:r>
              <a:rPr sz="4400" spc="-10" dirty="0"/>
              <a:t>Summary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66975" y="2059228"/>
            <a:ext cx="8415655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102500"/>
              <a:buFont typeface="Arial MT"/>
              <a:buChar char="•"/>
              <a:tabLst>
                <a:tab pos="355600" algn="l"/>
                <a:tab pos="716280" algn="l"/>
                <a:tab pos="2027555" algn="l"/>
                <a:tab pos="2541905" algn="l"/>
                <a:tab pos="3240405" algn="l"/>
                <a:tab pos="4726305" algn="l"/>
                <a:tab pos="5255260" algn="l"/>
                <a:tab pos="5910580" algn="l"/>
                <a:tab pos="6876415" algn="l"/>
                <a:tab pos="7511415" algn="l"/>
              </a:tabLst>
            </a:pPr>
            <a:r>
              <a:rPr sz="2000" spc="-2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conclusion,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study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demonstrates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early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prenatal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care,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maternal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200000"/>
              </a:lnSpc>
            </a:pPr>
            <a:r>
              <a:rPr sz="2000" dirty="0">
                <a:latin typeface="Times New Roman"/>
                <a:cs typeface="Times New Roman"/>
              </a:rPr>
              <a:t>education,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marital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status,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clinical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characteristics such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BMI,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gestational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age,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plurality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contributors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birthweight.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sociodemographic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variables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health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surveillance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maternal- </a:t>
            </a:r>
            <a:r>
              <a:rPr sz="2000" dirty="0">
                <a:latin typeface="Times New Roman"/>
                <a:cs typeface="Times New Roman"/>
              </a:rPr>
              <a:t>child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health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programming.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identifying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high-risk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reinforcing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importance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early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intervention,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healthcare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policymakers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better </a:t>
            </a:r>
            <a:r>
              <a:rPr sz="2000" dirty="0">
                <a:latin typeface="Times New Roman"/>
                <a:cs typeface="Times New Roman"/>
              </a:rPr>
              <a:t>allocate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neonatal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outcomes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United</a:t>
            </a:r>
            <a:r>
              <a:rPr sz="2000" spc="-10" dirty="0">
                <a:latin typeface="Times New Roman"/>
                <a:cs typeface="Times New Roman"/>
              </a:rPr>
              <a:t> States.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05029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Discussion</a:t>
            </a:r>
            <a:r>
              <a:rPr lang="en-US" sz="3500" kern="1200" spc="-1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kern="1200" spc="-1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indent="-228600" algn="l" rtl="0">
              <a:lnSpc>
                <a:spcPct val="90000"/>
              </a:lnSpc>
              <a:spcBef>
                <a:spcPts val="615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Importance</a:t>
            </a:r>
            <a:r>
              <a:rPr lang="en-US" sz="17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7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</a:t>
            </a:r>
            <a:r>
              <a:rPr lang="en-US" sz="17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prenatal</a:t>
            </a:r>
            <a:r>
              <a:rPr lang="en-US" sz="17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care</a:t>
            </a:r>
            <a:r>
              <a:rPr lang="en-US" sz="17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interventions.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Socioeconomic</a:t>
            </a:r>
            <a:r>
              <a:rPr lang="en-US" sz="17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disparities</a:t>
            </a:r>
            <a:r>
              <a:rPr lang="en-US" sz="17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persist</a:t>
            </a:r>
            <a:r>
              <a:rPr lang="en-US" sz="17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7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outcomes.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575"/>
              </a:spcBef>
              <a:buSzPct val="102083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en-US" sz="17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7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targeted</a:t>
            </a:r>
            <a:r>
              <a:rPr lang="en-US" sz="17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en-US" sz="17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</a:t>
            </a:r>
            <a:r>
              <a:rPr lang="en-US" sz="17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strategies.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0" tIns="10938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de-DE" sz="3500" spc="-1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0" tIns="6350" rIns="0" bIns="0" rtlCol="0" anchor="ctr">
            <a:normAutofit/>
          </a:bodyPr>
          <a:lstStyle/>
          <a:p>
            <a:pPr marL="355600" indent="-342900">
              <a:spcBef>
                <a:spcPts val="50"/>
              </a:spcBef>
              <a:buSzPct val="103333"/>
              <a:buAutoNum type="arabicPeriod"/>
              <a:tabLst>
                <a:tab pos="355600" algn="l"/>
              </a:tabLst>
            </a:pPr>
            <a:r>
              <a:rPr lang="en-US" sz="1700" dirty="0"/>
              <a:t>JO;</a:t>
            </a:r>
            <a:r>
              <a:rPr lang="en-US" sz="1700" spc="-20" dirty="0"/>
              <a:t> </a:t>
            </a:r>
            <a:r>
              <a:rPr lang="en-US" sz="1700" dirty="0"/>
              <a:t>RN.</a:t>
            </a:r>
            <a:r>
              <a:rPr lang="en-US" sz="1700" spc="-45" dirty="0"/>
              <a:t> </a:t>
            </a:r>
            <a:r>
              <a:rPr lang="en-US" sz="1700" dirty="0"/>
              <a:t>Timing</a:t>
            </a:r>
            <a:r>
              <a:rPr lang="en-US" sz="1700" spc="-20" dirty="0"/>
              <a:t> </a:t>
            </a:r>
            <a:r>
              <a:rPr lang="en-US" sz="1700" dirty="0"/>
              <a:t>of</a:t>
            </a:r>
            <a:r>
              <a:rPr lang="en-US" sz="1700" spc="-15" dirty="0"/>
              <a:t> </a:t>
            </a:r>
            <a:r>
              <a:rPr lang="en-US" sz="1700" dirty="0"/>
              <a:t>enhanced</a:t>
            </a:r>
            <a:r>
              <a:rPr lang="en-US" sz="1700" spc="-15" dirty="0"/>
              <a:t> </a:t>
            </a:r>
            <a:r>
              <a:rPr lang="en-US" sz="1700" dirty="0"/>
              <a:t>prenatal</a:t>
            </a:r>
            <a:r>
              <a:rPr lang="en-US" sz="1700" spc="-20" dirty="0"/>
              <a:t> </a:t>
            </a:r>
            <a:r>
              <a:rPr lang="en-US" sz="1700" dirty="0"/>
              <a:t>care</a:t>
            </a:r>
            <a:r>
              <a:rPr lang="en-US" sz="1700" spc="-15" dirty="0"/>
              <a:t> </a:t>
            </a:r>
            <a:r>
              <a:rPr lang="en-US" sz="1700" dirty="0"/>
              <a:t>and</a:t>
            </a:r>
            <a:r>
              <a:rPr lang="en-US" sz="1700" spc="-20" dirty="0"/>
              <a:t> </a:t>
            </a:r>
            <a:r>
              <a:rPr lang="en-US" sz="1700" dirty="0"/>
              <a:t>birth</a:t>
            </a:r>
            <a:r>
              <a:rPr lang="en-US" sz="1700" spc="-15" dirty="0"/>
              <a:t> </a:t>
            </a:r>
            <a:r>
              <a:rPr lang="en-US" sz="1700" dirty="0"/>
              <a:t>outcomes</a:t>
            </a:r>
            <a:r>
              <a:rPr lang="en-US" sz="1700" spc="-25" dirty="0"/>
              <a:t> </a:t>
            </a:r>
            <a:r>
              <a:rPr lang="en-US" sz="1700" dirty="0"/>
              <a:t>in</a:t>
            </a:r>
            <a:r>
              <a:rPr lang="en-US" sz="1700" spc="-15" dirty="0"/>
              <a:t> </a:t>
            </a:r>
            <a:r>
              <a:rPr lang="en-US" sz="1700" dirty="0"/>
              <a:t>New</a:t>
            </a:r>
            <a:r>
              <a:rPr lang="en-US" sz="1700" spc="-25" dirty="0"/>
              <a:t> </a:t>
            </a:r>
            <a:r>
              <a:rPr lang="en-US" sz="1700" spc="-10" dirty="0"/>
              <a:t>Jersey’s</a:t>
            </a:r>
            <a:r>
              <a:rPr lang="en-US" sz="1700" spc="-20" dirty="0"/>
              <a:t> </a:t>
            </a:r>
            <a:r>
              <a:rPr lang="en-US" sz="1700" dirty="0"/>
              <a:t>Health Start</a:t>
            </a:r>
            <a:r>
              <a:rPr lang="en-US" sz="1700" spc="-15" dirty="0"/>
              <a:t> </a:t>
            </a:r>
            <a:r>
              <a:rPr lang="en-US" sz="1700" spc="-10" dirty="0"/>
              <a:t>program. Maternal</a:t>
            </a:r>
            <a:r>
              <a:rPr lang="en-US" sz="1700" dirty="0"/>
              <a:t> and child health journal.</a:t>
            </a:r>
            <a:r>
              <a:rPr lang="en-US" sz="1700" spc="-85" dirty="0"/>
              <a:t> </a:t>
            </a:r>
            <a:r>
              <a:rPr lang="en-US" sz="1700" dirty="0"/>
              <a:t>Accessed</a:t>
            </a:r>
            <a:r>
              <a:rPr lang="en-US" sz="1700" spc="-85" dirty="0"/>
              <a:t> </a:t>
            </a:r>
            <a:r>
              <a:rPr lang="en-US" sz="1700" dirty="0"/>
              <a:t>April 29, </a:t>
            </a:r>
            <a:r>
              <a:rPr lang="en-US" sz="1700" spc="-10" dirty="0"/>
              <a:t>2025. </a:t>
            </a:r>
            <a:r>
              <a:rPr lang="en-US" sz="1700" u="heavy" spc="-10" dirty="0">
                <a:uFill>
                  <a:solidFill>
                    <a:srgbClr val="0000FF"/>
                  </a:solidFill>
                </a:uFill>
                <a:hlinkClick r:id="rId2"/>
              </a:rPr>
              <a:t>https://pubmed.ncbi.nlm.nih.gov/15965620/</a:t>
            </a:r>
            <a:r>
              <a:rPr lang="en-US" sz="1700" spc="-10" dirty="0"/>
              <a:t>.</a:t>
            </a:r>
          </a:p>
          <a:p>
            <a:pPr marL="354965" marR="20320" indent="-342900">
              <a:spcBef>
                <a:spcPts val="359"/>
              </a:spcBef>
              <a:buSzPct val="103333"/>
              <a:buAutoNum type="arabicPeriod" startAt="2"/>
              <a:tabLst>
                <a:tab pos="354965" algn="l"/>
              </a:tabLst>
            </a:pPr>
            <a:r>
              <a:rPr lang="en-US" sz="1700" dirty="0"/>
              <a:t>HA;</a:t>
            </a:r>
            <a:r>
              <a:rPr lang="en-US" sz="1700" spc="-15" dirty="0"/>
              <a:t> </a:t>
            </a:r>
            <a:r>
              <a:rPr lang="en-US" sz="1700" dirty="0"/>
              <a:t>PSJC.</a:t>
            </a:r>
            <a:r>
              <a:rPr lang="en-US" sz="1700" spc="-10" dirty="0"/>
              <a:t> </a:t>
            </a:r>
            <a:r>
              <a:rPr lang="en-US" sz="1700" dirty="0"/>
              <a:t>Inadequate</a:t>
            </a:r>
            <a:r>
              <a:rPr lang="en-US" sz="1700" spc="-10" dirty="0"/>
              <a:t> </a:t>
            </a:r>
            <a:r>
              <a:rPr lang="en-US" sz="1700" dirty="0"/>
              <a:t>prenatal</a:t>
            </a:r>
            <a:r>
              <a:rPr lang="en-US" sz="1700" spc="-10" dirty="0"/>
              <a:t> </a:t>
            </a:r>
            <a:r>
              <a:rPr lang="en-US" sz="1700" dirty="0"/>
              <a:t>care</a:t>
            </a:r>
            <a:r>
              <a:rPr lang="en-US" sz="1700" spc="-10" dirty="0"/>
              <a:t> </a:t>
            </a:r>
            <a:r>
              <a:rPr lang="en-US" sz="1700" dirty="0"/>
              <a:t>utilization</a:t>
            </a:r>
            <a:r>
              <a:rPr lang="en-US" sz="1700" spc="-10" dirty="0"/>
              <a:t> </a:t>
            </a:r>
            <a:r>
              <a:rPr lang="en-US" sz="1700" dirty="0"/>
              <a:t>and</a:t>
            </a:r>
            <a:r>
              <a:rPr lang="en-US" sz="1700" spc="-15" dirty="0"/>
              <a:t> </a:t>
            </a:r>
            <a:r>
              <a:rPr lang="en-US" sz="1700" dirty="0"/>
              <a:t>risks</a:t>
            </a:r>
            <a:r>
              <a:rPr lang="en-US" sz="1700" spc="-15" dirty="0"/>
              <a:t> </a:t>
            </a:r>
            <a:r>
              <a:rPr lang="en-US" sz="1700" dirty="0"/>
              <a:t>of</a:t>
            </a:r>
            <a:r>
              <a:rPr lang="en-US" sz="1700" spc="-10" dirty="0"/>
              <a:t> </a:t>
            </a:r>
            <a:r>
              <a:rPr lang="en-US" sz="1700" dirty="0"/>
              <a:t>infant</a:t>
            </a:r>
            <a:r>
              <a:rPr lang="en-US" sz="1700" spc="-10" dirty="0"/>
              <a:t> </a:t>
            </a:r>
            <a:r>
              <a:rPr lang="en-US" sz="1700" dirty="0"/>
              <a:t>mortality</a:t>
            </a:r>
            <a:r>
              <a:rPr lang="en-US" sz="1700" spc="-10" dirty="0"/>
              <a:t> </a:t>
            </a:r>
            <a:r>
              <a:rPr lang="en-US" sz="1700" dirty="0"/>
              <a:t>and</a:t>
            </a:r>
            <a:r>
              <a:rPr lang="en-US" sz="1700" spc="-10" dirty="0"/>
              <a:t> </a:t>
            </a:r>
            <a:r>
              <a:rPr lang="en-US" sz="1700" dirty="0"/>
              <a:t>poor</a:t>
            </a:r>
            <a:r>
              <a:rPr lang="en-US" sz="1700" spc="-10" dirty="0"/>
              <a:t> </a:t>
            </a:r>
            <a:r>
              <a:rPr lang="en-US" sz="1700" dirty="0"/>
              <a:t>birth</a:t>
            </a:r>
            <a:r>
              <a:rPr lang="en-US" sz="1700" spc="-15" dirty="0"/>
              <a:t> </a:t>
            </a:r>
            <a:r>
              <a:rPr lang="en-US" sz="1700" spc="-10" dirty="0"/>
              <a:t>outcome: </a:t>
            </a:r>
            <a:r>
              <a:rPr lang="en-US" sz="1700" dirty="0"/>
              <a:t>A</a:t>
            </a:r>
            <a:r>
              <a:rPr lang="en-US" sz="1700" spc="-20" dirty="0"/>
              <a:t> </a:t>
            </a:r>
            <a:r>
              <a:rPr lang="en-US" sz="1700" dirty="0"/>
              <a:t>retrospective</a:t>
            </a:r>
            <a:r>
              <a:rPr lang="en-US" sz="1700" spc="-10" dirty="0"/>
              <a:t> </a:t>
            </a:r>
            <a:r>
              <a:rPr lang="en-US" sz="1700" dirty="0"/>
              <a:t>analysis</a:t>
            </a:r>
            <a:r>
              <a:rPr lang="en-US" sz="1700" spc="-15" dirty="0"/>
              <a:t> </a:t>
            </a:r>
            <a:r>
              <a:rPr lang="en-US" sz="1700" dirty="0"/>
              <a:t>of</a:t>
            </a:r>
            <a:r>
              <a:rPr lang="en-US" sz="1700" spc="-10" dirty="0"/>
              <a:t> </a:t>
            </a:r>
            <a:r>
              <a:rPr lang="en-US" sz="1700" dirty="0"/>
              <a:t>28,729,765</a:t>
            </a:r>
            <a:r>
              <a:rPr lang="en-US" sz="1700" spc="-10" dirty="0"/>
              <a:t> </a:t>
            </a:r>
            <a:r>
              <a:rPr lang="en-US" sz="1700" dirty="0"/>
              <a:t>U.S.</a:t>
            </a:r>
            <a:r>
              <a:rPr lang="en-US" sz="1700" spc="-10" dirty="0"/>
              <a:t> </a:t>
            </a:r>
            <a:r>
              <a:rPr lang="en-US" sz="1700" dirty="0"/>
              <a:t>deliveries</a:t>
            </a:r>
            <a:r>
              <a:rPr lang="en-US" sz="1700" spc="-20" dirty="0"/>
              <a:t> </a:t>
            </a:r>
            <a:r>
              <a:rPr lang="en-US" sz="1700" dirty="0"/>
              <a:t>over</a:t>
            </a:r>
            <a:r>
              <a:rPr lang="en-US" sz="1700" spc="-10" dirty="0"/>
              <a:t> </a:t>
            </a:r>
            <a:r>
              <a:rPr lang="en-US" sz="1700" dirty="0"/>
              <a:t>8</a:t>
            </a:r>
            <a:r>
              <a:rPr lang="en-US" sz="1700" spc="-10" dirty="0"/>
              <a:t> </a:t>
            </a:r>
            <a:r>
              <a:rPr lang="en-US" sz="1700" dirty="0"/>
              <a:t>years.</a:t>
            </a:r>
            <a:r>
              <a:rPr lang="en-US" sz="1700" spc="-10" dirty="0"/>
              <a:t> </a:t>
            </a:r>
            <a:r>
              <a:rPr lang="en-US" sz="1700" dirty="0"/>
              <a:t>American</a:t>
            </a:r>
            <a:r>
              <a:rPr lang="en-US" sz="1700" spc="-10" dirty="0"/>
              <a:t> </a:t>
            </a:r>
            <a:r>
              <a:rPr lang="en-US" sz="1700" dirty="0"/>
              <a:t>journal</a:t>
            </a:r>
            <a:r>
              <a:rPr lang="en-US" sz="1700" spc="-15" dirty="0"/>
              <a:t> </a:t>
            </a:r>
            <a:r>
              <a:rPr lang="en-US" sz="1700" spc="-25" dirty="0"/>
              <a:t>of </a:t>
            </a:r>
            <a:r>
              <a:rPr lang="en-US" sz="1700" dirty="0"/>
              <a:t>perinatology.</a:t>
            </a:r>
            <a:r>
              <a:rPr lang="en-US" sz="1700" spc="-10" dirty="0"/>
              <a:t> </a:t>
            </a:r>
            <a:r>
              <a:rPr lang="en-US" sz="1700" dirty="0"/>
              <a:t>Accessed April 29, 2025.</a:t>
            </a:r>
            <a:r>
              <a:rPr lang="en-US" sz="1700" spc="-30" dirty="0"/>
              <a:t> </a:t>
            </a:r>
            <a:r>
              <a:rPr lang="en-US" sz="1700" u="heavy" spc="-10" dirty="0">
                <a:uFill>
                  <a:solidFill>
                    <a:srgbClr val="0000FF"/>
                  </a:solidFill>
                </a:uFill>
                <a:hlinkClick r:id="rId3"/>
              </a:rPr>
              <a:t>https://pubmed.ncbi.nlm.nih.gov/22836820/</a:t>
            </a:r>
            <a:r>
              <a:rPr lang="en-US" sz="1700" spc="-10" dirty="0"/>
              <a:t>.</a:t>
            </a:r>
          </a:p>
          <a:p>
            <a:pPr marL="354965" marR="190500" indent="-342900">
              <a:spcBef>
                <a:spcPts val="160"/>
              </a:spcBef>
              <a:buSzPct val="103333"/>
              <a:buAutoNum type="arabicPeriod" startAt="2"/>
              <a:tabLst>
                <a:tab pos="354965" algn="l"/>
              </a:tabLst>
            </a:pPr>
            <a:r>
              <a:rPr lang="en-US" sz="1700" dirty="0"/>
              <a:t>DATA</a:t>
            </a:r>
            <a:r>
              <a:rPr lang="en-US" sz="1700" spc="-25" dirty="0"/>
              <a:t> </a:t>
            </a:r>
            <a:r>
              <a:rPr lang="en-US" sz="1700" dirty="0"/>
              <a:t>Source:</a:t>
            </a:r>
            <a:r>
              <a:rPr lang="en-US" sz="1700" spc="-15" dirty="0"/>
              <a:t> </a:t>
            </a:r>
            <a:r>
              <a:rPr lang="en-US" sz="1700" dirty="0"/>
              <a:t>Data</a:t>
            </a:r>
            <a:r>
              <a:rPr lang="en-US" sz="1700" spc="-20" dirty="0"/>
              <a:t> </a:t>
            </a:r>
            <a:r>
              <a:rPr lang="en-US" sz="1700" dirty="0"/>
              <a:t>Access</a:t>
            </a:r>
            <a:r>
              <a:rPr lang="en-US" sz="1700" spc="-20" dirty="0"/>
              <a:t> </a:t>
            </a:r>
            <a:r>
              <a:rPr lang="en-US" sz="1700" dirty="0"/>
              <a:t>-</a:t>
            </a:r>
            <a:r>
              <a:rPr lang="en-US" sz="1700" spc="-20" dirty="0"/>
              <a:t> </a:t>
            </a:r>
            <a:r>
              <a:rPr lang="en-US" sz="1700" dirty="0"/>
              <a:t>Vital</a:t>
            </a:r>
            <a:r>
              <a:rPr lang="en-US" sz="1700" spc="-15" dirty="0"/>
              <a:t> </a:t>
            </a:r>
            <a:r>
              <a:rPr lang="en-US" sz="1700" dirty="0"/>
              <a:t>Statistics</a:t>
            </a:r>
            <a:r>
              <a:rPr lang="en-US" sz="1700" spc="-20" dirty="0"/>
              <a:t> </a:t>
            </a:r>
            <a:r>
              <a:rPr lang="en-US" sz="1700" dirty="0"/>
              <a:t>Online.</a:t>
            </a:r>
            <a:r>
              <a:rPr lang="en-US" sz="1700" spc="-20" dirty="0"/>
              <a:t> </a:t>
            </a:r>
            <a:r>
              <a:rPr lang="en-US" sz="1700" dirty="0"/>
              <a:t>Centers</a:t>
            </a:r>
            <a:r>
              <a:rPr lang="en-US" sz="1700" spc="-20" dirty="0"/>
              <a:t> </a:t>
            </a:r>
            <a:r>
              <a:rPr lang="en-US" sz="1700" dirty="0"/>
              <a:t>for</a:t>
            </a:r>
            <a:r>
              <a:rPr lang="en-US" sz="1700" spc="-20" dirty="0"/>
              <a:t> </a:t>
            </a:r>
            <a:r>
              <a:rPr lang="en-US" sz="1700" dirty="0"/>
              <a:t>Disease</a:t>
            </a:r>
            <a:r>
              <a:rPr lang="en-US" sz="1700" spc="-15" dirty="0"/>
              <a:t> </a:t>
            </a:r>
            <a:r>
              <a:rPr lang="en-US" sz="1700" dirty="0"/>
              <a:t>Control</a:t>
            </a:r>
            <a:r>
              <a:rPr lang="en-US" sz="1700" spc="-15" dirty="0"/>
              <a:t> </a:t>
            </a:r>
            <a:r>
              <a:rPr lang="en-US" sz="1700" dirty="0"/>
              <a:t>and</a:t>
            </a:r>
            <a:r>
              <a:rPr lang="en-US" sz="1700" spc="-20" dirty="0"/>
              <a:t> </a:t>
            </a:r>
            <a:r>
              <a:rPr lang="en-US" sz="1700" spc="-10" dirty="0"/>
              <a:t>Prevention. </a:t>
            </a:r>
            <a:r>
              <a:rPr lang="en-US" sz="1700" dirty="0"/>
              <a:t>April 10, 2025. Accessed April 29, </a:t>
            </a:r>
            <a:r>
              <a:rPr lang="en-US" sz="1700" spc="-10" dirty="0"/>
              <a:t>2025. </a:t>
            </a:r>
            <a:r>
              <a:rPr lang="en-US" sz="1700" u="heavy" spc="-10" dirty="0">
                <a:uFill>
                  <a:solidFill>
                    <a:srgbClr val="0000FF"/>
                  </a:solidFill>
                </a:uFill>
                <a:hlinkClick r:id="rId4"/>
              </a:rPr>
              <a:t>https://www.cdc.gov/nchs/data_access/vitalstatsonline.htm</a:t>
            </a:r>
            <a:r>
              <a:rPr lang="en-US" sz="1700" spc="-10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0731" y="2745740"/>
            <a:ext cx="504253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dirty="0">
                <a:latin typeface="Calibri"/>
                <a:cs typeface="Calibri"/>
              </a:rPr>
              <a:t>Thank </a:t>
            </a:r>
            <a:r>
              <a:rPr sz="8800" spc="-640" dirty="0">
                <a:latin typeface="Calibri"/>
                <a:cs typeface="Calibri"/>
              </a:rPr>
              <a:t>Y</a:t>
            </a:r>
            <a:r>
              <a:rPr sz="8800" spc="10" dirty="0">
                <a:latin typeface="Calibri"/>
                <a:cs typeface="Calibri"/>
              </a:rPr>
              <a:t>o</a:t>
            </a:r>
            <a:r>
              <a:rPr sz="8800" spc="-10" dirty="0">
                <a:latin typeface="Calibri"/>
                <a:cs typeface="Calibri"/>
              </a:rPr>
              <a:t>u</a:t>
            </a:r>
            <a:r>
              <a:rPr sz="8800" spc="15" dirty="0">
                <a:latin typeface="Calibri"/>
                <a:cs typeface="Calibri"/>
              </a:rPr>
              <a:t>!</a:t>
            </a:r>
            <a:endParaRPr sz="8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7200" y="5334000"/>
            <a:ext cx="4251323" cy="430246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25" dirty="0">
                <a:latin typeface="Times New Roman"/>
                <a:cs typeface="Times New Roman"/>
              </a:rPr>
              <a:t>-</a:t>
            </a:r>
            <a:r>
              <a:rPr sz="2400" spc="-25" dirty="0">
                <a:latin typeface="Times New Roman"/>
                <a:cs typeface="Times New Roman"/>
              </a:rPr>
              <a:t>Venkata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Sai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Krishna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Kukkapalli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2471</Words>
  <Application>Microsoft Office PowerPoint</Application>
  <PresentationFormat>On-screen Show (4:3)</PresentationFormat>
  <Paragraphs>362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MT</vt:lpstr>
      <vt:lpstr>Calibri</vt:lpstr>
      <vt:lpstr>Times New Roman</vt:lpstr>
      <vt:lpstr>Office Theme</vt:lpstr>
      <vt:lpstr>Research PROJECT PRESENTATION</vt:lpstr>
      <vt:lpstr>Background and Introduction:</vt:lpstr>
      <vt:lpstr>Population of Interest:</vt:lpstr>
      <vt:lpstr>Outcomes of Interest</vt:lpstr>
      <vt:lpstr>Independent Variables</vt:lpstr>
      <vt:lpstr>Existing Literature and Gaps</vt:lpstr>
      <vt:lpstr>Existing Literature and Gaps</vt:lpstr>
      <vt:lpstr>Research Question and Hypothesis</vt:lpstr>
      <vt:lpstr>Data Source</vt:lpstr>
      <vt:lpstr>Variables</vt:lpstr>
      <vt:lpstr>Descriptive Statistics</vt:lpstr>
      <vt:lpstr>PowerPoint Presentation</vt:lpstr>
      <vt:lpstr>PowerPoint Presentation</vt:lpstr>
      <vt:lpstr>PowerPoint Presentation</vt:lpstr>
      <vt:lpstr>Data Handling and Management</vt:lpstr>
      <vt:lpstr>I(a): Bivariate Analysis - One-way ANOVA</vt:lpstr>
      <vt:lpstr>PowerPoint Presentation</vt:lpstr>
      <vt:lpstr>PowerPoint Presentation</vt:lpstr>
      <vt:lpstr>I(b): Bivariate Analysis – Chi-Square Test</vt:lpstr>
      <vt:lpstr>PowerPoint Presentation</vt:lpstr>
      <vt:lpstr>Figure I(b): Stacked Bar Chart of Delivery Method by Plurality</vt:lpstr>
      <vt:lpstr>II: Multivariate Analysis – Linear Regression</vt:lpstr>
      <vt:lpstr>Gestational weeks (B = +116.22, 95% CI: [114.59, 117.84]) and maternal BMI (e.g., Obesity III: B = +117.17, CI: [100.11, 134.23]) were the strongest positive predictors of birthweight. Being a twin (B = –578.81, CI: [–601.52, –556.09]) or</vt:lpstr>
      <vt:lpstr>PowerPoint Presentation</vt:lpstr>
      <vt:lpstr>Figure II: Forest Plot of Adjusted Regression Coefficients for Predictors of Birthweight</vt:lpstr>
      <vt:lpstr>Results Summary</vt:lpstr>
      <vt:lpstr>Discussion and 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3 Research FINAL PROJECT PRESENTATION</dc:title>
  <cp:lastModifiedBy>Venkata Sai krishna Kukkapalli</cp:lastModifiedBy>
  <cp:revision>4</cp:revision>
  <dcterms:created xsi:type="dcterms:W3CDTF">2025-04-29T22:41:08Z</dcterms:created>
  <dcterms:modified xsi:type="dcterms:W3CDTF">2026-06-12T22:41:31Z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2013-01-27T00:00:00Z</vt:filetime>
  </property>
  <property fmtid="{D5CDD505-2E9C-101B-9397-08002B2CF9AE}" pid="3" name="Creator">
    <vt:lpwstr>Aspose Pty Ltd.</vt:lpwstr>
  </property>
  <property fmtid="{D5CDD505-2E9C-101B-9397-08002B2CF9AE}" pid="4" name="LastSaved">
    <vt:filetime>2025-04-29T00:00:00Z</vt:filetime>
  </property>
  <property fmtid="{D5CDD505-2E9C-101B-9397-08002B2CF9AE}" pid="5" name="Producer">
    <vt:lpwstr>Aspose.PDF for Java 23.4</vt:lpwstr>
  </property>
</Properties>
</file>